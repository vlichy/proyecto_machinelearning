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3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cdad06e54c4874" /><Relationship Type="http://schemas.openxmlformats.org/officeDocument/2006/relationships/extended-properties" Target="/docProps/app.xml" Id="R821e2c84c08942c8" /><Relationship Type="http://schemas.openxmlformats.org/officeDocument/2006/relationships/officeDocument" Target="/ppt/presentation.xml" Id="Rb61ee093482a46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b5e608139d4a9a"/>
  </p:sldMasterIdLst>
  <p:notesMasterIdLst>
    <p:notesMasterId xmlns:r="http://schemas.openxmlformats.org/officeDocument/2006/relationships" r:id="Rc4b8a526ce144710"/>
  </p:notesMasterIdLst>
  <p:sldIdLst>
    <p:sldId xmlns:r="http://schemas.openxmlformats.org/officeDocument/2006/relationships" id="256" r:id="Raab521a7c00a4a29"/>
    <p:sldId xmlns:r="http://schemas.openxmlformats.org/officeDocument/2006/relationships" id="257" r:id="Rad178c7742cd4086"/>
    <p:sldId xmlns:r="http://schemas.openxmlformats.org/officeDocument/2006/relationships" id="258" r:id="R19b1295035a54940"/>
    <p:sldId xmlns:r="http://schemas.openxmlformats.org/officeDocument/2006/relationships" id="259" r:id="R893e4ff7abcd47fb"/>
    <p:sldId xmlns:r="http://schemas.openxmlformats.org/officeDocument/2006/relationships" id="260" r:id="Raf44c74d8397437e"/>
    <p:sldId xmlns:r="http://schemas.openxmlformats.org/officeDocument/2006/relationships" id="261" r:id="R25331f5c134343e0"/>
    <p:sldId xmlns:r="http://schemas.openxmlformats.org/officeDocument/2006/relationships" id="262" r:id="Red5916e1f57e477f"/>
    <p:sldId xmlns:r="http://schemas.openxmlformats.org/officeDocument/2006/relationships" id="263" r:id="R734c989ab6fb4795"/>
    <p:sldId xmlns:r="http://schemas.openxmlformats.org/officeDocument/2006/relationships" id="264" r:id="R28e2b78283834eb0"/>
    <p:sldId xmlns:r="http://schemas.openxmlformats.org/officeDocument/2006/relationships" id="265" r:id="Rafde134572d44c0c"/>
    <p:sldId xmlns:r="http://schemas.openxmlformats.org/officeDocument/2006/relationships" id="266" r:id="Ra4b5e4b036724ddf"/>
    <p:sldId xmlns:r="http://schemas.openxmlformats.org/officeDocument/2006/relationships" id="267" r:id="Rf4cb461fb3ff4d4d"/>
    <p:sldId xmlns:r="http://schemas.openxmlformats.org/officeDocument/2006/relationships" id="268" r:id="R6da042e9c6ab491b"/>
    <p:sldId xmlns:r="http://schemas.openxmlformats.org/officeDocument/2006/relationships" id="269" r:id="Rd17abafd7b7a470e"/>
    <p:sldId xmlns:r="http://schemas.openxmlformats.org/officeDocument/2006/relationships" id="270" r:id="R24c2eee979ea4b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84a885193f4248" /><Relationship Type="http://schemas.openxmlformats.org/officeDocument/2006/relationships/slideMaster" Target="/ppt/slideMasters/slideMaster1.xml" Id="Rf8b5e608139d4a9a" /><Relationship Type="http://schemas.openxmlformats.org/officeDocument/2006/relationships/notesMaster" Target="/ppt/notesMasters/notesMaster1.xml" Id="Rc4b8a526ce144710" /><Relationship Type="http://schemas.openxmlformats.org/officeDocument/2006/relationships/presProps" Target="/ppt/presProps.xml" Id="Rfdc7556387624bf9" /><Relationship Type="http://schemas.openxmlformats.org/officeDocument/2006/relationships/tableStyles" Target="/ppt/tableStyles.xml" Id="Ra286f3faee1e41cc" /><Relationship Type="http://schemas.openxmlformats.org/officeDocument/2006/relationships/slide" Target="/ppt/slides/slide1.xml" Id="Raab521a7c00a4a29" /><Relationship Type="http://schemas.openxmlformats.org/officeDocument/2006/relationships/slide" Target="/ppt/slides/slide2.xml" Id="Rad178c7742cd4086" /><Relationship Type="http://schemas.openxmlformats.org/officeDocument/2006/relationships/slide" Target="/ppt/slides/slide3.xml" Id="R19b1295035a54940" /><Relationship Type="http://schemas.openxmlformats.org/officeDocument/2006/relationships/slide" Target="/ppt/slides/slide4.xml" Id="R893e4ff7abcd47fb" /><Relationship Type="http://schemas.openxmlformats.org/officeDocument/2006/relationships/slide" Target="/ppt/slides/slide5.xml" Id="Raf44c74d8397437e" /><Relationship Type="http://schemas.openxmlformats.org/officeDocument/2006/relationships/slide" Target="/ppt/slides/slide6.xml" Id="R25331f5c134343e0" /><Relationship Type="http://schemas.openxmlformats.org/officeDocument/2006/relationships/slide" Target="/ppt/slides/slide7.xml" Id="Red5916e1f57e477f" /><Relationship Type="http://schemas.openxmlformats.org/officeDocument/2006/relationships/slide" Target="/ppt/slides/slide8.xml" Id="R734c989ab6fb4795" /><Relationship Type="http://schemas.openxmlformats.org/officeDocument/2006/relationships/slide" Target="/ppt/slides/slide9.xml" Id="R28e2b78283834eb0" /><Relationship Type="http://schemas.openxmlformats.org/officeDocument/2006/relationships/slide" Target="/ppt/slides/slide10.xml" Id="Rafde134572d44c0c" /><Relationship Type="http://schemas.openxmlformats.org/officeDocument/2006/relationships/slide" Target="/ppt/slides/slide11.xml" Id="Ra4b5e4b036724ddf" /><Relationship Type="http://schemas.openxmlformats.org/officeDocument/2006/relationships/slide" Target="/ppt/slides/slide12.xml" Id="Rf4cb461fb3ff4d4d" /><Relationship Type="http://schemas.openxmlformats.org/officeDocument/2006/relationships/slide" Target="/ppt/slides/slide13.xml" Id="R6da042e9c6ab491b" /><Relationship Type="http://schemas.openxmlformats.org/officeDocument/2006/relationships/slide" Target="/ppt/slides/slide14.xml" Id="Rd17abafd7b7a470e" /><Relationship Type="http://schemas.openxmlformats.org/officeDocument/2006/relationships/slide" Target="/ppt/slides/slide15.xml" Id="R24c2eee979ea4b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27f8fc1ebd44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09ee6f914e401f" /><Relationship Type="http://schemas.openxmlformats.org/officeDocument/2006/relationships/notesMaster" Target="/ppt/notesMasters/notesMaster1.xml" Id="R8f88147a6d8f40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6d73a2ca7e45aa" /><Relationship Type="http://schemas.openxmlformats.org/officeDocument/2006/relationships/notesMaster" Target="/ppt/notesMasters/notesMaster1.xml" Id="Rf8224585907c44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9a6f82bee549e3" /><Relationship Type="http://schemas.openxmlformats.org/officeDocument/2006/relationships/notesMaster" Target="/ppt/notesMasters/notesMaster1.xml" Id="Radda7d4999ea4e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ed7e0a55ac42f5" /><Relationship Type="http://schemas.openxmlformats.org/officeDocument/2006/relationships/notesMaster" Target="/ppt/notesMasters/notesMaster1.xml" Id="R68e21602793e401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e8b05d36a244a9" /><Relationship Type="http://schemas.openxmlformats.org/officeDocument/2006/relationships/notesMaster" Target="/ppt/notesMasters/notesMaster1.xml" Id="R1f487c167468422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4001be3b7943d8" /><Relationship Type="http://schemas.openxmlformats.org/officeDocument/2006/relationships/notesMaster" Target="/ppt/notesMasters/notesMaster1.xml" Id="R773c205683da45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67aeb9f65645f6" /><Relationship Type="http://schemas.openxmlformats.org/officeDocument/2006/relationships/notesMaster" Target="/ppt/notesMasters/notesMaster1.xml" Id="R4bf5343b62994c2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0ecce611f0944f4" /><Relationship Type="http://schemas.openxmlformats.org/officeDocument/2006/relationships/notesMaster" Target="/ppt/notesMasters/notesMaster1.xml" Id="R57f205e3990848a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686a7ac69e84f30" /><Relationship Type="http://schemas.openxmlformats.org/officeDocument/2006/relationships/notesMaster" Target="/ppt/notesMasters/notesMaster1.xml" Id="R49f2a5685739476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2284c69149f43c5" /><Relationship Type="http://schemas.openxmlformats.org/officeDocument/2006/relationships/notesMaster" Target="/ppt/notesMasters/notesMaster1.xml" Id="R2631f7e4fbe14d5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41e740191b747d3" /><Relationship Type="http://schemas.openxmlformats.org/officeDocument/2006/relationships/notesMaster" Target="/ppt/notesMasters/notesMaster1.xml" Id="Rd9fe2b9588bc478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29c5dc3072248d8" /><Relationship Type="http://schemas.openxmlformats.org/officeDocument/2006/relationships/notesMaster" Target="/ppt/notesMasters/notesMaster1.xml" Id="Rd099504c4d15482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a84c5ef8cd4492c" /><Relationship Type="http://schemas.openxmlformats.org/officeDocument/2006/relationships/notesMaster" Target="/ppt/notesMasters/notesMaster1.xml" Id="Rf6868bcd20564d5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454f1073ad24871" /><Relationship Type="http://schemas.openxmlformats.org/officeDocument/2006/relationships/notesMaster" Target="/ppt/notesMasters/notesMaster1.xml" Id="Rc1deca7a0ded491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713cbc2cd864dd0" /><Relationship Type="http://schemas.openxmlformats.org/officeDocument/2006/relationships/notesMaster" Target="/ppt/notesMasters/notesMaster1.xml" Id="R0e39933d8ec841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el objetivo académico: clasificar riesgo y priorizar seguimiento. Aclarar que la autoría académica no se ha confirmado. La evaluación es retrospectiva, no un piloto de intervención.</a:t>
            </a:r>
          </a:p>
          <a:p xmlns:a="http://schemas.openxmlformats.org/drawingml/2006/main">
            <a:r>
              <a:t>Fuente: Memoria final, 18/10/2026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Una reserva puede cancelar y generar incertidumbre de demanda. El seguimiento consume tiempo. Diferenciar capacidad predictiva de eficacia del contacto. No se estiman ahorros ni se recomiendan penalizaciones.</a:t>
            </a:r>
          </a:p>
          <a:p xmlns:a="http://schemas.openxmlformats.org/drawingml/2006/main">
            <a:r>
              <a:t>Fuente: Memoria, introducción y alcance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Describir calidad y asociaciones, construir pipelines sin ajuste global, contrastar algoritmos y cerrar una decisión antes de prueba. El enunciado oficial no se ha localizado.</a:t>
            </a:r>
          </a:p>
          <a:p xmlns:a="http://schemas.openxmlformats.org/drawingml/2006/main">
            <a:r>
              <a:t>Fuente: Informes de fases 1 a 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Archivo local compatible con Hotel Booking Demand, sin cadena de descarga acreditada. La publicación describe 31 variables por hotel y el archivo combinado añade hotel. Conservar duplicados evita asumir errores sin un ID real.</a:t>
            </a:r>
          </a:p>
          <a:p xmlns:a="http://schemas.openxmlformats.org/drawingml/2006/main">
            <a:r>
              <a:t>Fuente: Fases 1 y 2. António et al., 2019, DOI 10.1016/j.dib.2018.11.126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tasa City supera la de Resort en el archivo completo. Lead time cero tiene 6,78% y mayor a 365 días 67,66%, grupos seleccionados no exhaustivos. No atribuir causalidad. El EDA utilizó todo el archivo y esa exposición se declara.</a:t>
            </a:r>
          </a:p>
          <a:p xmlns:a="http://schemas.openxmlformats.org/drawingml/2006/main">
            <a:r>
              <a:t>Fuente: Fase 2, EDA global. No corresponde a prueba v3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Seis numéricas y ocho categóricas. Numéricas: lead_time, total_nights, adults, children, babies, children_missing. Categóricas: hotel, mes, meal, country, mercado, canal, habitación reservada y tipo de cliente. OHE ignora categorías desconocidas. Solo logística escala.</a:t>
            </a:r>
          </a:p>
          <a:p xmlns:a="http://schemas.openxmlformats.org/drawingml/2006/main">
            <a:r>
              <a:t>Fuente: Fase 3 y especificación congelada de fase 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 excluyen estado final y fecha de estado, además de 12 campos inciertos. V2 seleccionaba por disponibilidad de desenlaces, favoreciendo cancelaciones anticipadas. V3 usa llegada y seguimiento común de bloque. Embargos julio-agosto 2016 y enero-febrero 2017. Train completa un ciclo anual. Cierre de prueba asumido 01/12/2018, sin certificación PMS.</a:t>
            </a:r>
          </a:p>
          <a:p xmlns:a="http://schemas.openxmlformats.org/drawingml/2006/main">
            <a:r>
              <a:t>Fuente: Fases 3, 7.1 y manifiesto v3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Comparación v2: logística, árbol profundidad 8, bosque 200 árboles, XGBoost 300 y LightGBM 300. La búsqueda v2 tuvo 54 ajustes y no mejoró evaluación externa. TreeExplainer sobre 3.000 filas de XGBoost v2 destacó país y antelación. No explica la logística final ni implica causalidad.</a:t>
            </a:r>
          </a:p>
          <a:p xmlns:a="http://schemas.openxmlformats.org/drawingml/2006/main">
            <a:r>
              <a:t>Fuente: Fases 5, 6 y 7. Experimentos históricos v2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cinco algoritmos se compararon en v2, una población distinta. En v3 se mantienen los dos iniciales sin optimizar. XGBoost mejora AUC, AP y Brier. Esta diapositiva no compara resultados entre protocolos.</a:t>
            </a:r>
          </a:p>
          <a:p xmlns:a="http://schemas.openxmlformats.org/drawingml/2006/main">
            <a:r>
              <a:t>Fuente: seleccion_8_metricas.csv y seleccion_8_calibracion.csv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igual volumen mensual de 3.980 prioridades, logística identifica 32 TP más. Es una ventaja pequeña, descriptiva, sin prueba de superioridad estadística. A 30% gana XGBoost. Se valora también menor complejidad. La capacidad 20% se fijó como supuesto antes del análisis, sin escogerla para favorecer un modelo.</a:t>
            </a:r>
          </a:p>
          <a:p xmlns:a="http://schemas.openxmlformats.org/drawingml/2006/main">
            <a:r>
              <a:t>Fuente: Fase 8, capacidad mensual del 20% en validación v3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Cada mes reúne ambos hoteles. Se aplica floor del 20% dentro del mes, no del total multimensual. Ante empate exacto: SHA256 UTF-8 de 42|ID ascendente y después ID numérico. Sin redondeo de scores, etiquetas ni cuotas por hotel. Requiere lote completo y revisión humana, sin garantía de evitar cancelaciones.</a:t>
            </a:r>
          </a:p>
          <a:p xmlns:a="http://schemas.openxmlformats.org/drawingml/2006/main">
            <a:r>
              <a:t>Fuente: Especificación congelada de fase 8 y src/decision_policy.py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32.829 reservas, 13.136 cancelaciones, 6.564 prioridades. Matriz TN18469 FP1224 FN7796 TP5340. Una inferencia, scores congelados antes de acceder a objetivos. Comparar con validación sin cambiar el modelo ni política. Precision baja 4,25 puntos y recall 4,35.</a:t>
            </a:r>
          </a:p>
          <a:p xmlns:a="http://schemas.openxmlformats.org/drawingml/2006/main">
            <a:r>
              <a:t>Fuente: Fase 9, evaluacion_9_metricas.json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Precision mensual: marzo80,38 abril91,70 mayo93,90 junio89,99 julio68,17 agosto58,68%. City prioriza23,73% con precision82,99 y recall45,88. Resort11,81%, precision74,16 y recall26,04. Son cuotas compartidas. Los cambios de temporada y composición no permiten atribuir causalidad ni concluir una tendencia permanente con seis meses.</a:t>
            </a:r>
          </a:p>
          <a:p xmlns:a="http://schemas.openxmlformats.org/drawingml/2006/main">
            <a:r>
              <a:t>Fuente: Fase 9, tablas mensuales y por hotel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Faltan snapshots iniciales y cierre operativo acreditado. Fecha de alta aproximada no observada. Parte de prueba estuvo expuesta bajo v2 y al EDA. Validación reutilizada. Scores no calibrados, promedio35,21% frente40,01% observado. Intervalos por bloques descriptivos, sin cobertura garantizada. Sin costes, eficacia de intervención ni ID real.</a:t>
            </a:r>
          </a:p>
          <a:p xmlns:a="http://schemas.openxmlformats.org/drawingml/2006/main">
            <a:r>
              <a:t>Fuente: Memoria, limitaciones y fase 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proyecto integra conocimientos de calidad, pipelines, comparación, búsqueda temporal, SHAP y evaluación. En prueba cubre40,65% de cancelaciones al20% de capacidad y deja7796 sin prioridad. Conservar decisiones congeladas. Trabajo futuro: nuevas reservas con trazabilidad, evaluación externa y piloto humano. Confirmar autoría y rúbrica del profesor antes de entregar.</a:t>
            </a:r>
          </a:p>
          <a:p xmlns:a="http://schemas.openxmlformats.org/drawingml/2006/main">
            <a:r>
              <a:t>Fuente: Memoria final y evaluación congelada de fase 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c3da730dc7416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9055703e7a47b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de0fda53d84a4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de96ce5db0459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5857a1b4ed435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b2ab816ca04a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33B6469-A014-40E4-A4DF-39F6FFB914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6F1A285-047D-4593-9F97-AEEA26597CC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D06B768-E0EB-4E57-B816-BA45B29DC8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568E501-BF80-4623-A24D-947D0A3D58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103E4F4-E5E3-461D-B28B-D19AA0683A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55505F5-C9E3-4A26-9274-1B2D7BD45B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6799A03-9D60-41EB-B337-B29151FB04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04CEDFA-8847-4622-BFFD-962A3E907FE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0CBC96-F341-4369-8243-F7DB10D8C5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66D642A-4B9D-4B06-B7A4-2C811B1487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1a626e434d41ba" /><Relationship Type="http://schemas.openxmlformats.org/officeDocument/2006/relationships/slideLayout" Target="/ppt/slideLayouts/slideLayout1.xml" Id="Re20c5bc206a84dca" /><Relationship Type="http://schemas.openxmlformats.org/officeDocument/2006/relationships/slideLayout" Target="/ppt/slideLayouts/slideLayout2.xml" Id="Rd5109c813b1b4eae" /><Relationship Type="http://schemas.openxmlformats.org/officeDocument/2006/relationships/slideLayout" Target="/ppt/slideLayouts/slideLayout3.xml" Id="Rceebab7807674dd2" /><Relationship Type="http://schemas.openxmlformats.org/officeDocument/2006/relationships/slideLayout" Target="/ppt/slideLayouts/slideLayout4.xml" Id="R86bf7c9d82fb4d05" /><Relationship Type="http://schemas.openxmlformats.org/officeDocument/2006/relationships/slideLayout" Target="/ppt/slideLayouts/slideLayout5.xml" Id="Rc9a7cbf910c64e32" /><Relationship Type="http://schemas.openxmlformats.org/officeDocument/2006/relationships/slideLayout" Target="/ppt/slideLayouts/slideLayout6.xml" Id="R64c6fb6ddb4045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0c5bc206a84dca"/>
    <p:sldLayoutId xmlns:r="http://schemas.openxmlformats.org/officeDocument/2006/relationships" id="2147483650" r:id="Rd5109c813b1b4eae"/>
    <p:sldLayoutId xmlns:r="http://schemas.openxmlformats.org/officeDocument/2006/relationships" id="2147483651" r:id="Rceebab7807674dd2"/>
    <p:sldLayoutId xmlns:r="http://schemas.openxmlformats.org/officeDocument/2006/relationships" id="2147483652" r:id="R86bf7c9d82fb4d05"/>
    <p:sldLayoutId xmlns:r="http://schemas.openxmlformats.org/officeDocument/2006/relationships" id="2147483653" r:id="Rc9a7cbf910c64e32"/>
    <p:sldLayoutId xmlns:r="http://schemas.openxmlformats.org/officeDocument/2006/relationships" id="2147483654" r:id="R64c6fb6ddb4045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16c004e8634b50" /><Relationship Type="http://schemas.openxmlformats.org/officeDocument/2006/relationships/notesSlide" Target="/ppt/notesSlides/notesSlide1.xml" Id="Rc01e0510fdc845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58f0b00a924776" /><Relationship Type="http://schemas.openxmlformats.org/officeDocument/2006/relationships/notesSlide" Target="/ppt/notesSlides/notesSlide2.xml" Id="R30918663ef6e4b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f2538603494542" /><Relationship Type="http://schemas.openxmlformats.org/officeDocument/2006/relationships/notesSlide" Target="/ppt/notesSlides/notesSlide3.xml" Id="Ra64a7832312141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bb6f576807477f" /><Relationship Type="http://schemas.openxmlformats.org/officeDocument/2006/relationships/notesSlide" Target="/ppt/notesSlides/notesSlide4.xml" Id="Rfc81476fd30046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9d04dafeed49e4" /><Relationship Type="http://schemas.openxmlformats.org/officeDocument/2006/relationships/chart" Target="/ppt/slides/charts/chart1.xml" Id="R7bdd562b11f6426a" /><Relationship Type="http://schemas.openxmlformats.org/officeDocument/2006/relationships/notesSlide" Target="/ppt/notesSlides/notesSlide5.xml" Id="R6fe5f44873dd49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17216e148c4b0d" /><Relationship Type="http://schemas.openxmlformats.org/officeDocument/2006/relationships/notesSlide" Target="/ppt/notesSlides/notesSlide6.xml" Id="R093d26d8c0a44c4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397aef5c254a39" /><Relationship Type="http://schemas.openxmlformats.org/officeDocument/2006/relationships/notesSlide" Target="/ppt/notesSlides/notesSlide7.xml" Id="R9a65e75504f842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2324ef1fee44f4" /><Relationship Type="http://schemas.openxmlformats.org/officeDocument/2006/relationships/notesSlide" Target="/ppt/notesSlides/notesSlide8.xml" Id="R5758f2bf1e4f4b9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222616e3d74417" /><Relationship Type="http://schemas.openxmlformats.org/officeDocument/2006/relationships/chart" Target="/ppt/slides/charts/chart2.xml" Id="Rb7a7ea1f4d044fe6" /><Relationship Type="http://schemas.openxmlformats.org/officeDocument/2006/relationships/notesSlide" Target="/ppt/notesSlides/notesSlide9.xml" Id="Rd607b0e5a5c240e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73246293dc4bbb" /><Relationship Type="http://schemas.openxmlformats.org/officeDocument/2006/relationships/notesSlide" Target="/ppt/notesSlides/notesSlide10.xml" Id="Rff915885d78a4ff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d111b9658f45e2" /><Relationship Type="http://schemas.openxmlformats.org/officeDocument/2006/relationships/notesSlide" Target="/ppt/notesSlides/notesSlide11.xml" Id="R1e61bcf629e04e2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d7a75e1eaa415a" /><Relationship Type="http://schemas.openxmlformats.org/officeDocument/2006/relationships/notesSlide" Target="/ppt/notesSlides/notesSlide12.xml" Id="R62103f7e9e8f495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00581b5b1b4747" /><Relationship Type="http://schemas.openxmlformats.org/officeDocument/2006/relationships/chart" Target="/ppt/slides/charts/chart3.xml" Id="R301d602d0640479b" /><Relationship Type="http://schemas.openxmlformats.org/officeDocument/2006/relationships/notesSlide" Target="/ppt/notesSlides/notesSlide13.xml" Id="R1cf1369272684c9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fd9662c4ba44c4" /><Relationship Type="http://schemas.openxmlformats.org/officeDocument/2006/relationships/notesSlide" Target="/ppt/notesSlides/notesSlide14.xml" Id="R0354dbe50e67464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b9e81fcb534fe6" /><Relationship Type="http://schemas.openxmlformats.org/officeDocument/2006/relationships/notesSlide" Target="/ppt/notesSlides/notesSlide15.xml" Id="Ra892adb4e20b4e1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latin typeface="Arial"/>
                <a:ea typeface="Arial"/>
                <a:cs typeface="Arial"/>
              </a:rPr>
              <a:t>Cancelación por hotel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Tasa de cancelación</c:v>
          </c:tx>
          <c:spPr>
            <a:solidFill xmlns:a="http://schemas.openxmlformats.org/drawingml/2006/main">
              <a:srgbClr val="173E58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City Hotel</c:v>
                </c:pt>
                <c:pt idx="1">
                  <c:v>Resort Hotel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0.41727</c:v>
                </c:pt>
                <c:pt idx="1">
                  <c:v>0.277634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latin typeface="Arial"/>
                <a:ea typeface="Arial"/>
                <a:cs typeface="Arial"/>
              </a:rPr>
              <a:t>Discriminación global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ROC-AUC</c:v>
          </c:tx>
          <c:spPr>
            <a:solidFill xmlns:a="http://schemas.openxmlformats.org/drawingml/2006/main">
              <a:srgbClr val="173E58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Logística</c:v>
                </c:pt>
                <c:pt idx="1">
                  <c:v>XGBoost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0.79459</c:v>
                </c:pt>
                <c:pt idx="1">
                  <c:v>0.830592</c:v>
                </c:pt>
              </c:numCache>
            </c:numRef>
          </c:val>
        </c:ser>
        <c:ser>
          <c:idx val="1"/>
          <c:order val="1"/>
          <c:tx>
            <c:v>Average Precision</c:v>
          </c:tx>
          <c:spPr>
            <a:solidFill xmlns:a="http://schemas.openxmlformats.org/drawingml/2006/main">
              <a:srgbClr val="168880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Logística</c:v>
                </c:pt>
                <c:pt idx="1">
                  <c:v>XGBoost</c:v>
                </c:pt>
              </c:strCache>
            </c:strRef>
          </c:cat>
          <c:val>
            <c:numRef>
              <c:f>'Chart Data'!$D$2:$D$3</c:f>
              <c:numCache>
                <c:formatCode>0.0</c:formatCode>
                <c:ptCount val="2"/>
                <c:pt idx="0">
                  <c:v>0.762161</c:v>
                </c:pt>
                <c:pt idx="1">
                  <c:v>0.790062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latin typeface="Arial"/>
                <a:ea typeface="Arial"/>
                <a:cs typeface="Arial"/>
              </a:rPr>
              <a:t>Política mensual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Precision</c:v>
          </c:tx>
          <c:spPr>
            <a:ln xmlns:a="http://schemas.openxmlformats.org/drawingml/2006/main" w="28575">
              <a:solidFill>
                <a:srgbClr val="173E58"/>
              </a:solidFill>
            </a:ln>
          </c:spPr>
          <c:marker>
            <c:symbol val="none"/>
          </c:marker>
          <c:cat>
            <c:strRef>
              <c:f>'Chart Data'!$A$2:$A$7</c:f>
              <c:strCache>
                <c:ptCount val="6"/>
                <c:pt idx="0">
                  <c:v>Mar</c:v>
                </c:pt>
                <c:pt idx="1">
                  <c:v>Abr</c:v>
                </c:pt>
                <c:pt idx="2">
                  <c:v>May</c:v>
                </c:pt>
                <c:pt idx="3">
                  <c:v>Jun</c:v>
                </c:pt>
                <c:pt idx="4">
                  <c:v>Jul</c:v>
                </c:pt>
                <c:pt idx="5">
                  <c:v>Ago</c:v>
                </c:pt>
              </c:strCache>
            </c:strRef>
          </c:cat>
          <c:val>
            <c:numRef>
              <c:f>'Chart Data'!$B$2:$B$7</c:f>
              <c:numCache>
                <c:formatCode>0%</c:formatCode>
                <c:ptCount val="6"/>
                <c:pt idx="0">
                  <c:v>0.803823</c:v>
                </c:pt>
                <c:pt idx="1">
                  <c:v>0.916961</c:v>
                </c:pt>
                <c:pt idx="2">
                  <c:v>0.938986</c:v>
                </c:pt>
                <c:pt idx="3">
                  <c:v>0.899911</c:v>
                </c:pt>
                <c:pt idx="4">
                  <c:v>0.681733</c:v>
                </c:pt>
                <c:pt idx="5">
                  <c:v>0.586802</c:v>
                </c:pt>
              </c:numCache>
            </c:numRef>
          </c:val>
        </c:ser>
        <c:ser>
          <c:idx val="1"/>
          <c:order val="1"/>
          <c:tx>
            <c:v>Recall</c:v>
          </c:tx>
          <c:spPr>
            <a:ln xmlns:a="http://schemas.openxmlformats.org/drawingml/2006/main" w="28575">
              <a:solidFill>
                <a:srgbClr val="168880"/>
              </a:solidFill>
            </a:ln>
          </c:spPr>
          <c:marker>
            <c:symbol val="none"/>
          </c:marker>
          <c:cat>
            <c:strRef>
              <c:f>'Chart Data'!$C$2:$C$7</c:f>
              <c:strCache>
                <c:ptCount val="6"/>
                <c:pt idx="0">
                  <c:v>Mar</c:v>
                </c:pt>
                <c:pt idx="1">
                  <c:v>Abr</c:v>
                </c:pt>
                <c:pt idx="2">
                  <c:v>May</c:v>
                </c:pt>
                <c:pt idx="3">
                  <c:v>Jun</c:v>
                </c:pt>
                <c:pt idx="4">
                  <c:v>Jul</c:v>
                </c:pt>
                <c:pt idx="5">
                  <c:v>Ago</c:v>
                </c:pt>
              </c:strCache>
            </c:strRef>
          </c:cat>
          <c:val>
            <c:numRef>
              <c:f>'Chart Data'!$D$2:$D$7</c:f>
              <c:numCache>
                <c:formatCode>0%</c:formatCode>
                <c:ptCount val="6"/>
                <c:pt idx="0">
                  <c:v>0.477871</c:v>
                </c:pt>
                <c:pt idx="1">
                  <c:v>0.421437</c:v>
                </c:pt>
                <c:pt idx="2">
                  <c:v>0.429037</c:v>
                </c:pt>
                <c:pt idx="3">
                  <c:v>0.416564</c:v>
                </c:pt>
                <c:pt idx="4">
                  <c:v>0.364919</c:v>
                </c:pt>
                <c:pt idx="5">
                  <c:v>0.318282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96C331-A586-42B6-9A5E-236FF731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Predicción de cancelaciones</a:t>
            </a:r>
          </a:p>
          <a:p xmlns:a="http://schemas.openxmlformats.org/drawingml/2006/main">
            <a: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hoteleras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7BB927-1F1C-4D02-B372-01224850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1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5B400C-1646-4F38-8EC0-5D5B90B3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Memoria final, 18/10/2026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67AA6C-2C28-4A72-972E-D67BB6AD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8880"/>
                </a:solidFill>
                <a:latin typeface="Arial"/>
                <a:ea typeface="Arial"/>
                <a:cs typeface="Arial"/>
              </a:rPr>
              <a:t>Curso de Data Science y Machine Learning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46A118-5C00-4B91-9571-D1BFD2B8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Modelo y política congelados antes de la evaluación final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C256AB-8174-4596-B385-699B5992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Protocolo v3 · Llegadas de 2015 a 2017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05FB06-B943-4B22-A34F-083F2228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Autoría académica sin confirmar</a:t>
            </a:r>
          </a:p>
        </p:txBody>
      </p:sp>
    </p:spTree>
    <p:extLst>
      <p:ext uri="{BB962C8B-B14F-4D97-AF65-F5344CB8AC3E}">
        <p14:creationId xmlns:p14="http://schemas.microsoft.com/office/powerpoint/2010/main" val="3686748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9D6CCD-D6D7-49D2-8AB9-207A1B26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Problema de negocio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B383CE-6002-4DA1-88BE-0A7876CD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2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485B17-14A5-4324-99AA-466E83FE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Memoria, introducción y alcance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075875-77E0-44D0-B3D6-3BA1AB8D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Las cancelaciones introducen incertidumbre en la demanda.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BB35B3-20C1-4562-B3D5-368AF351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Una capacidad limitada exige priorizar revisiones humanas.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858B99-B468-4903-9CEA-061F8138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El estudio evalúa la detección, sin medir el efecto de intervenir.</a:t>
            </a:r>
          </a:p>
        </p:txBody>
      </p:sp>
    </p:spTree>
    <p:extLst>
      <p:ext uri="{BB962C8B-B14F-4D97-AF65-F5344CB8AC3E}">
        <p14:creationId xmlns:p14="http://schemas.microsoft.com/office/powerpoint/2010/main" val="1386571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88B639-D677-41A9-93BE-B2AA3930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Objetivos del proyecto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A4D3DF-3E69-4995-8723-B688F05A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3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24B64D-5B8B-4CDE-B0A6-11553067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Informes de fases 1 a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D8F271-1620-4E89-B612-FB4A7514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Preparar datos y separar predictores, etiquetas y metadatos.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850285-448F-4421-8E22-CC1892F6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Comparar clasificadores con una estrategia temporal explícita.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42ABD0-0242-4FF8-B1B5-AC98F204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Evaluar una política congelada y documentar sus límites.</a:t>
            </a:r>
          </a:p>
        </p:txBody>
      </p:sp>
    </p:spTree>
    <p:extLst>
      <p:ext uri="{BB962C8B-B14F-4D97-AF65-F5344CB8AC3E}">
        <p14:creationId xmlns:p14="http://schemas.microsoft.com/office/powerpoint/2010/main" val="1623516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4FD11D-D4C1-4415-8BEC-C651ED38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Dataset y calidad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8C33A7-4BE9-471F-923C-101D3162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4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6E5D0A-64A8-48D8-BB14-F676E0F5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Fases 1 y 2. António et al., 2019, DOI 10.1016/j.dib.2018.11.126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AF8DD3-9A37-4D12-8633-6FC8C8639237}"/>
              </a:ext>
            </a:extLst>
          </p:cNvPr>
          <p:cNvGraphicFramePr/>
          <p:nvPr/>
        </p:nvGraphicFramePr>
        <p:xfrm>
          <a:off xmlns:a="http://schemas.openxmlformats.org/drawingml/2006/main" x="666750" y="1428750"/>
          <a:ext xmlns:a="http://schemas.openxmlformats.org/drawingml/2006/main" cx="10858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5429250"/>
              </a:tblGrid>
              <a:tr h="7429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E58"/>
                          </a:solidFill>
                          <a:latin typeface="Arial"/>
                          <a:ea typeface="Arial"/>
                          <a:cs typeface="Arial"/>
                        </a:rPr>
                        <a:t>Archivo completo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E58"/>
                          </a:solidFill>
                          <a:latin typeface="Arial"/>
                          <a:ea typeface="Arial"/>
                          <a:cs typeface="Arial"/>
                        </a:rPr>
                        <a:t>Magnitud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Reservas / columnas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119.390 / 32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City / Resort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79.330 / 40.060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Cancelaciones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44.224 (37,04%)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Duplicados adicionales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31.994, conservados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A56FD3-A624-455D-A159-D585A0DA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Llegadas previstas: julio de 2015 a agosto de 2017</a:t>
            </a:r>
          </a:p>
        </p:txBody>
      </p:sp>
    </p:spTree>
    <p:extLst>
      <p:ext uri="{BB962C8B-B14F-4D97-AF65-F5344CB8AC3E}">
        <p14:creationId xmlns:p14="http://schemas.microsoft.com/office/powerpoint/2010/main" val="12125687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B5E3F4-457A-4033-84CB-11622692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Análisis exploratorio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E8EE1E-2674-4167-AC88-15472353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5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7B54A8-56D6-428D-9F25-470915CD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Fase 2, EDA global. No corresponde a prueba v3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C2C699FA-0BD8-4EB0-98D5-5E339AB78191}"/>
              </a:ext>
            </a:extLst>
          </p:cNvPr>
          <p:cNvGraphicFramePr/>
          <p:nvPr/>
        </p:nvGraphicFramePr>
        <p:xfrm>
          <a:off xmlns:a="http://schemas.openxmlformats.org/drawingml/2006/main" x="666750" y="1381125"/>
          <a:ext xmlns:a="http://schemas.openxmlformats.org/drawingml/2006/main" cx="6477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bdd562b11f6426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956552-FD9E-42C4-B933-457DADF4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00250"/>
            <a:ext cx="3810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Antelación cero</a:t>
            </a:r>
          </a:p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6,78% canceladas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Más de 365 días</a:t>
            </a:r>
          </a:p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67,66% canceladas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DCFF3F-2B80-4858-839D-A4C8C38D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8880"/>
                </a:solidFill>
                <a:latin typeface="Arial"/>
                <a:ea typeface="Arial"/>
                <a:cs typeface="Arial"/>
              </a:rPr>
              <a:t>Asociaciones agregadas, sin interpretación causal</a:t>
            </a:r>
          </a:p>
        </p:txBody>
      </p:sp>
    </p:spTree>
    <p:extLst>
      <p:ext uri="{BB962C8B-B14F-4D97-AF65-F5344CB8AC3E}">
        <p14:creationId xmlns:p14="http://schemas.microsoft.com/office/powerpoint/2010/main" val="18996555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C623F2-D3B6-4716-8FA9-63168D36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Preparación de datos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BEB4FC-6CA1-45BF-B651-430377B7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6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02EDD4-A8B6-4D4F-8A93-A44204BE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Fase 3 y especificación congelada de fase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1653D3-38F2-41D8-A46D-E46824B6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14 predictores, con etiqueta y metadatos separados.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873482-ABB1-4371-A95C-20F6DC9B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Medianas, categorías y escala aprendidas solo en train.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72D10A-0420-430B-BFB9-611876FA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One-hot con categorías desconocidas ignoradas.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A78A0E-5CA6-4F82-88FB-CC1F832C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119.390 registros conservados y 192 columnas en v3.</a:t>
            </a:r>
          </a:p>
        </p:txBody>
      </p:sp>
    </p:spTree>
    <p:extLst>
      <p:ext uri="{BB962C8B-B14F-4D97-AF65-F5344CB8AC3E}">
        <p14:creationId xmlns:p14="http://schemas.microsoft.com/office/powerpoint/2010/main" val="17744075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8107AF-BC20-44CB-8DB4-6B8B2E7C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Prevención de leakage y protocolo v3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FBFCF-F4F8-4D12-940C-79CDA322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7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CA3C2B-59B7-4EE3-8110-1BF9E3AA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Fases 3, 7.1 y manifiesto v3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A3DF7E-DBDE-4A35-8702-AAAEEAE9D2BA}"/>
              </a:ext>
            </a:extLst>
          </p:cNvPr>
          <p:cNvGraphicFramePr/>
          <p:nvPr/>
        </p:nvGraphicFramePr>
        <p:xfrm>
          <a:off xmlns:a="http://schemas.openxmlformats.org/drawingml/2006/main" x="666750" y="1476375"/>
          <a:ext xmlns:a="http://schemas.openxmlformats.org/drawingml/2006/main" cx="10858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</a:tblGrid>
              <a:tr h="619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E58"/>
                          </a:solidFill>
                          <a:latin typeface="Arial"/>
                          <a:ea typeface="Arial"/>
                          <a:cs typeface="Arial"/>
                        </a:rPr>
                        <a:t>Bloque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E58"/>
                          </a:solidFill>
                          <a:latin typeface="Arial"/>
                          <a:ea typeface="Arial"/>
                          <a:cs typeface="Arial"/>
                        </a:rPr>
                        <a:t>Llegadas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E58"/>
                          </a:solidFill>
                          <a:latin typeface="Arial"/>
                          <a:ea typeface="Arial"/>
                          <a:cs typeface="Arial"/>
                        </a:rPr>
                        <a:t>Reservas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Jul 2015 a jun 2016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49.157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Embargo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Jul a ago 2016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9.635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Validación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Sep a dic 2016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19.911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Embargo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Ene a feb 2017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7.858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Prueba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Mar a ago 2017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32.829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08D46B-9B7A-4893-ABE3-E9F33D2B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8880"/>
                </a:solidFill>
                <a:latin typeface="Arial"/>
                <a:ea typeface="Arial"/>
                <a:cs typeface="Arial"/>
              </a:rPr>
              <a:t>Cohortes retrospectivas con seguimiento común por bloque</a:t>
            </a:r>
          </a:p>
        </p:txBody>
      </p:sp>
    </p:spTree>
    <p:extLst>
      <p:ext uri="{BB962C8B-B14F-4D97-AF65-F5344CB8AC3E}">
        <p14:creationId xmlns:p14="http://schemas.microsoft.com/office/powerpoint/2010/main" val="2860019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91D832-BFA7-4262-9A45-F6A9584E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Algoritmos comparados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C4027C-F1B3-42EF-B161-9A49F442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8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F40B9B-9472-414A-B4BF-BDC7EC49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Fases 5, 6 y 7. Experimentos históricos v2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078E6D-CA42-4BBA-A2D8-684190FB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Logística, árbol, Random Forest, XGBoost y LightGBM.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193F6A-1623-44A6-B8D6-280CABBB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Optimización temporal histórica sin mejora externa.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F2235B-093E-4C29-9CA4-96999104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SHAP analizó XGBoost v2: país y antelación destacaron.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5D6AA1-5701-4697-9F68-0A28C7A2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En v3 solo se compararon logística y XGBoost iniciales.</a:t>
            </a:r>
          </a:p>
        </p:txBody>
      </p:sp>
    </p:spTree>
    <p:extLst>
      <p:ext uri="{BB962C8B-B14F-4D97-AF65-F5344CB8AC3E}">
        <p14:creationId xmlns:p14="http://schemas.microsoft.com/office/powerpoint/2010/main" val="7756110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510C04-4AFB-4A1F-AA50-07E79AD8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Resultados de modelado en validación v3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CAE7B2-F015-40AD-BDBC-8BEC0267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9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68D942-EB3B-4C2D-A23D-F6BC8913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seleccion_8_metricas.csv y seleccion_8_calibracion.csv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81CFF20D-B176-47B9-A0B0-F8D748AEA006}"/>
              </a:ext>
            </a:extLst>
          </p:cNvPr>
          <p:cNvGraphicFramePr/>
          <p:nvPr/>
        </p:nvGraphicFramePr>
        <p:xfrm>
          <a:off xmlns:a="http://schemas.openxmlformats.org/drawingml/2006/main" x="666750" y="1428750"/>
          <a:ext xmlns:a="http://schemas.openxmlformats.org/drawingml/2006/main" cx="108585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7a7ea1f4d044fe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EBBCF7-46F6-4435-A603-35111D67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8880"/>
                </a:solidFill>
                <a:latin typeface="Arial"/>
                <a:ea typeface="Arial"/>
                <a:cs typeface="Arial"/>
              </a:rPr>
              <a:t>XGBoost presenta mejor discriminación global</a:t>
            </a:r>
          </a:p>
        </p:txBody>
      </p:sp>
    </p:spTree>
    <p:extLst>
      <p:ext uri="{BB962C8B-B14F-4D97-AF65-F5344CB8AC3E}">
        <p14:creationId xmlns:p14="http://schemas.microsoft.com/office/powerpoint/2010/main" val="9500431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D0F988-FA0C-45A0-AE82-C852E8C4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Selección de regresión logística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86D8E2-6E8B-4450-863D-BF98DBA0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10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D03188-C03E-4332-81A9-485B2F24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Fase 8, capacidad mensual del 20% en validación v3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66FBE6-B4A4-4BBE-A35F-B55A641A5057}"/>
              </a:ext>
            </a:extLst>
          </p:cNvPr>
          <p:cNvGraphicFramePr/>
          <p:nvPr/>
        </p:nvGraphicFramePr>
        <p:xfrm>
          <a:off xmlns:a="http://schemas.openxmlformats.org/drawingml/2006/main" x="666750" y="1714500"/>
          <a:ext xmlns:a="http://schemas.openxmlformats.org/drawingml/2006/main" cx="108585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2714625"/>
                <a:gridCol w="2714625"/>
                <a:gridCol w="2714625"/>
              </a:tblGrid>
              <a:tr h="762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E58"/>
                          </a:solidFill>
                          <a:latin typeface="Arial"/>
                          <a:ea typeface="Arial"/>
                          <a:cs typeface="Arial"/>
                        </a:rPr>
                        <a:t>Modelo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E58"/>
                          </a:solidFill>
                          <a:latin typeface="Arial"/>
                          <a:ea typeface="Arial"/>
                          <a:cs typeface="Arial"/>
                        </a:rPr>
                        <a:t>TP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E58"/>
                          </a:solidFill>
                          <a:latin typeface="Arial"/>
                          <a:ea typeface="Arial"/>
                          <a:cs typeface="Arial"/>
                        </a:rPr>
                        <a:t>Precision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E58"/>
                          </a:solidFill>
                          <a:latin typeface="Arial"/>
                          <a:ea typeface="Arial"/>
                          <a:cs typeface="Arial"/>
                        </a:rPr>
                        <a:t>Recall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Logística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3.407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85,60%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45,01%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XGBoost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3.375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84,80%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44,58%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F8AA95-0585-4270-9A5A-40B03F31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8880"/>
                </a:solidFill>
                <a:latin typeface="Arial"/>
                <a:ea typeface="Arial"/>
                <a:cs typeface="Arial"/>
              </a:rPr>
              <a:t>32 aciertos adicionales con el mismo volumen de alertas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7CC0B9-14A9-479C-B063-911502E8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Menor complejidad. Ventaja descriptiva y dependiente de capacidad.</a:t>
            </a:r>
          </a:p>
        </p:txBody>
      </p:sp>
    </p:spTree>
    <p:extLst>
      <p:ext uri="{BB962C8B-B14F-4D97-AF65-F5344CB8AC3E}">
        <p14:creationId xmlns:p14="http://schemas.microsoft.com/office/powerpoint/2010/main" val="13993445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1FC005-DDF4-4DB5-9007-81B1A44F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Política mensual de priorización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8E3ADA-5D7A-4674-BD3C-C529C8F4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11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FCF723-0BAF-4F48-AC41-9C7D126E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Especificación congelada de fase 8 y src/decision_policy.py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26F50B-06AF-42A9-9856-FA4A9BDE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68880"/>
                </a:solidFill>
                <a:latin typeface="Arial"/>
                <a:ea typeface="Arial"/>
                <a:cs typeface="Arial"/>
              </a:rPr>
              <a:t>k = floor(0,20 × reservas del mes)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87348-5E6D-423F-A3AA-A8356B68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Ambos hoteles comparten el cupo de cada mes.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BA4264-71CB-4CAA-B498-C11BF9EC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Score descendente y desempates SHA256 e ID.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359DD0-A1B3-4EFB-A4FD-18F1A9DA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Capacidad hipotética y seguimiento humano.</a:t>
            </a:r>
          </a:p>
        </p:txBody>
      </p:sp>
    </p:spTree>
    <p:extLst>
      <p:ext uri="{BB962C8B-B14F-4D97-AF65-F5344CB8AC3E}">
        <p14:creationId xmlns:p14="http://schemas.microsoft.com/office/powerpoint/2010/main" val="5581037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DE7ED9-FCCB-4583-AB94-F1B5FDDC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Evaluación final sobre prueba v3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F4BCC4-4B25-46EE-9B8C-D3B6A16A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12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4F5C7F-038C-4FBE-82E3-14CD673D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Fase 9, evaluacion_9_metricas.json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D17DE1-7001-4595-9C01-C7ED72DE7F19}"/>
              </a:ext>
            </a:extLst>
          </p:cNvPr>
          <p:cNvGraphicFramePr/>
          <p:nvPr/>
        </p:nvGraphicFramePr>
        <p:xfrm>
          <a:off xmlns:a="http://schemas.openxmlformats.org/drawingml/2006/main" x="666750" y="1428750"/>
          <a:ext xmlns:a="http://schemas.openxmlformats.org/drawingml/2006/main" cx="10858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</a:tblGrid>
              <a:tr h="619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E58"/>
                          </a:solidFill>
                          <a:latin typeface="Arial"/>
                          <a:ea typeface="Arial"/>
                          <a:cs typeface="Arial"/>
                        </a:rPr>
                        <a:t>Métrica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E58"/>
                          </a:solidFill>
                          <a:latin typeface="Arial"/>
                          <a:ea typeface="Arial"/>
                          <a:cs typeface="Arial"/>
                        </a:rPr>
                        <a:t>Validación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E58"/>
                          </a:solidFill>
                          <a:latin typeface="Arial"/>
                          <a:ea typeface="Arial"/>
                          <a:cs typeface="Arial"/>
                        </a:rPr>
                        <a:t>Prueba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Precision política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85,60%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81,35%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Recall política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45,01%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40,65%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F1 política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0,5900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0,5421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ROC-AUC / AP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0,7946 / 0,7622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0,7802 / 0,7416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Brier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0,17238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0,18534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AE4446-B9E8-4929-903D-28C965C8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8880"/>
                </a:solidFill>
                <a:latin typeface="Arial"/>
                <a:ea typeface="Arial"/>
                <a:cs typeface="Arial"/>
              </a:rPr>
              <a:t>6.564 prioridades: 5.340 aciertos y 1.224 falsas alertas</a:t>
            </a:r>
          </a:p>
        </p:txBody>
      </p:sp>
    </p:spTree>
    <p:extLst>
      <p:ext uri="{BB962C8B-B14F-4D97-AF65-F5344CB8AC3E}">
        <p14:creationId xmlns:p14="http://schemas.microsoft.com/office/powerpoint/2010/main" val="33120045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49748D-566E-40BE-AE9E-C0BE119F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Variabilidad por mes y hotel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CD14FE-1618-4982-A5A5-359FB5F6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13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ECB0F1-4211-4B44-8E39-D2F8A132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Fase 9, tablas mensuales y por hotel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383BB198-980C-4992-BA48-A0D76C272EEF}"/>
              </a:ext>
            </a:extLst>
          </p:cNvPr>
          <p:cNvGraphicFramePr/>
          <p:nvPr/>
        </p:nvGraphicFramePr>
        <p:xfrm>
          <a:off xmlns:a="http://schemas.openxmlformats.org/drawingml/2006/main" x="666750" y="1476375"/>
          <a:ext xmlns:a="http://schemas.openxmlformats.org/drawingml/2006/main" cx="71437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01d602d0640479b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94DBAE-FC77-4BF9-8A7C-9364921A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809750"/>
            <a:ext cx="33337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City Hotel</a:t>
            </a:r>
          </a:p>
          <a:p xmlns:a="http://schemas.openxmlformats.org/drawingml/2006/main">
            <a: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23,73% priorizado</a:t>
            </a:r>
          </a:p>
          <a:p xmlns:a="http://schemas.openxmlformats.org/drawingml/2006/main">
            <a: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Recall 45,88%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Resort Hotel</a:t>
            </a:r>
          </a:p>
          <a:p xmlns:a="http://schemas.openxmlformats.org/drawingml/2006/main">
            <a: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11,81% priorizado</a:t>
            </a:r>
          </a:p>
          <a:p xmlns:a="http://schemas.openxmlformats.org/drawingml/2006/main">
            <a: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Recall 26,04%</a:t>
            </a:r>
          </a:p>
        </p:txBody>
      </p:sp>
    </p:spTree>
    <p:extLst>
      <p:ext uri="{BB962C8B-B14F-4D97-AF65-F5344CB8AC3E}">
        <p14:creationId xmlns:p14="http://schemas.microsoft.com/office/powerpoint/2010/main" val="199924698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E5B534-86B1-4E16-8FDC-EB248FDB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Limitaciones de la evaluación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E2ADC1-18A5-4BFD-B0E2-C94C8FDC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14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D46893-CF61-427C-90F6-1A9C96CB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Memoria, limitaciones y fase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334CB8-A12E-46CB-9052-98D35BF7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Diseño retrospectivo, snapshots y cierre operativo inciertos.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20E5DD-6C33-4865-B7DF-8BB64BCF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Exposición previa parcial de prueba y validación reutilizada.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44FB27-3166-45FA-8E40-10C6EF72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Scores sin calibración acreditada y variación mensual.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D11F45-C8FA-419A-8E5F-98A2C867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Sin costes reales ni efecto del seguimiento evaluado.</a:t>
            </a:r>
          </a:p>
        </p:txBody>
      </p:sp>
    </p:spTree>
    <p:extLst>
      <p:ext uri="{BB962C8B-B14F-4D97-AF65-F5344CB8AC3E}">
        <p14:creationId xmlns:p14="http://schemas.microsoft.com/office/powerpoint/2010/main" val="16209871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B5BCEE-3D13-4FE4-9340-9A128402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Conclusiones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0C2825-DE2C-4275-9432-66F04017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15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92988B-2E19-4DF0-937C-ACE995A8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Memoria final y evaluación congelada de fase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41E71A-16EF-441B-B2C1-31A13BF2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8880"/>
                </a:solidFill>
                <a:latin typeface="Arial"/>
                <a:ea typeface="Arial"/>
                <a:cs typeface="Arial"/>
              </a:rPr>
              <a:t>5.340 cancelaciones identificadas</a:t>
            </a:r>
          </a:p>
          <a:p xmlns:a="http://schemas.openxmlformats.org/drawingml/2006/main">
            <a:pPr>
              <a:defRPr sz="34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8880"/>
                </a:solidFill>
                <a:latin typeface="Arial"/>
                <a:ea typeface="Arial"/>
                <a:cs typeface="Arial"/>
              </a:rPr>
              <a:t>en 6.564 prioridades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952A24-D073-4D93-BC18-3FE23B76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Cobertura del 40,65%, con diferencias entre meses y hoteles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5938E1-7403-4726-8599-D22A3916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Nuevos datos trazables y un piloto independiente permitirían</a:t>
            </a:r>
          </a:p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evaluar viabilidad operativa y consecuencias del seguimiento.</a:t>
            </a:r>
          </a:p>
        </p:txBody>
      </p:sp>
    </p:spTree>
    <p:extLst>
      <p:ext uri="{BB962C8B-B14F-4D97-AF65-F5344CB8AC3E}">
        <p14:creationId xmlns:p14="http://schemas.microsoft.com/office/powerpoint/2010/main" val="1530642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2026-10-18T16:26:44.3250000Z</dcterms:created>
  <dcterms:modified xsi:type="dcterms:W3CDTF">2026-10-18T16:26:44.3250000Z</dcterms:modified>
</coreProperties>
</file>