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27f4b8ff64918" /><Relationship Type="http://schemas.openxmlformats.org/officeDocument/2006/relationships/extended-properties" Target="/docProps/app.xml" Id="Rd07e668147d94029" /><Relationship Type="http://schemas.openxmlformats.org/officeDocument/2006/relationships/officeDocument" Target="/ppt/presentation.xml" Id="R1650756cd72e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a5ed02c294fd6"/>
  </p:sldMasterIdLst>
  <p:notesMasterIdLst>
    <p:notesMasterId xmlns:r="http://schemas.openxmlformats.org/officeDocument/2006/relationships" r:id="Rdeb15d5db9f04513"/>
  </p:notesMasterIdLst>
  <p:sldIdLst>
    <p:sldId xmlns:r="http://schemas.openxmlformats.org/officeDocument/2006/relationships" id="256" r:id="Ra81d36607b6b434a"/>
    <p:sldId xmlns:r="http://schemas.openxmlformats.org/officeDocument/2006/relationships" id="257" r:id="Ra70baf36e2b244ea"/>
    <p:sldId xmlns:r="http://schemas.openxmlformats.org/officeDocument/2006/relationships" id="258" r:id="Re7e89a7be44e4ff9"/>
    <p:sldId xmlns:r="http://schemas.openxmlformats.org/officeDocument/2006/relationships" id="259" r:id="R677b2e21857e4028"/>
    <p:sldId xmlns:r="http://schemas.openxmlformats.org/officeDocument/2006/relationships" id="260" r:id="R21517ebab5c440b9"/>
    <p:sldId xmlns:r="http://schemas.openxmlformats.org/officeDocument/2006/relationships" id="261" r:id="Rceb716af4a96443e"/>
    <p:sldId xmlns:r="http://schemas.openxmlformats.org/officeDocument/2006/relationships" id="262" r:id="R3dd6973350264289"/>
    <p:sldId xmlns:r="http://schemas.openxmlformats.org/officeDocument/2006/relationships" id="263" r:id="R2d324d80dda0414c"/>
    <p:sldId xmlns:r="http://schemas.openxmlformats.org/officeDocument/2006/relationships" id="264" r:id="Rf2422bd596e14e6f"/>
    <p:sldId xmlns:r="http://schemas.openxmlformats.org/officeDocument/2006/relationships" id="265" r:id="R5e9a7d653cfc4c03"/>
    <p:sldId xmlns:r="http://schemas.openxmlformats.org/officeDocument/2006/relationships" id="266" r:id="Rf53a35d309f04f85"/>
    <p:sldId xmlns:r="http://schemas.openxmlformats.org/officeDocument/2006/relationships" id="267" r:id="Rc473f70d348a41f7"/>
    <p:sldId xmlns:r="http://schemas.openxmlformats.org/officeDocument/2006/relationships" id="268" r:id="R129bf33368f84784"/>
    <p:sldId xmlns:r="http://schemas.openxmlformats.org/officeDocument/2006/relationships" id="269" r:id="Reb8150c2646140f2"/>
    <p:sldId xmlns:r="http://schemas.openxmlformats.org/officeDocument/2006/relationships" id="270" r:id="R7399eae0e54f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5ab54582c4620" /><Relationship Type="http://schemas.openxmlformats.org/officeDocument/2006/relationships/slideMaster" Target="/ppt/slideMasters/slideMaster1.xml" Id="R127a5ed02c294fd6" /><Relationship Type="http://schemas.openxmlformats.org/officeDocument/2006/relationships/notesMaster" Target="/ppt/notesMasters/notesMaster1.xml" Id="Rdeb15d5db9f04513" /><Relationship Type="http://schemas.openxmlformats.org/officeDocument/2006/relationships/presProps" Target="/ppt/presProps.xml" Id="Re3b6fb549d5041b3" /><Relationship Type="http://schemas.openxmlformats.org/officeDocument/2006/relationships/tableStyles" Target="/ppt/tableStyles.xml" Id="Rfa23410249884e9a" /><Relationship Type="http://schemas.openxmlformats.org/officeDocument/2006/relationships/slide" Target="/ppt/slides/slide1.xml" Id="Ra81d36607b6b434a" /><Relationship Type="http://schemas.openxmlformats.org/officeDocument/2006/relationships/slide" Target="/ppt/slides/slide2.xml" Id="Ra70baf36e2b244ea" /><Relationship Type="http://schemas.openxmlformats.org/officeDocument/2006/relationships/slide" Target="/ppt/slides/slide3.xml" Id="Re7e89a7be44e4ff9" /><Relationship Type="http://schemas.openxmlformats.org/officeDocument/2006/relationships/slide" Target="/ppt/slides/slide4.xml" Id="R677b2e21857e4028" /><Relationship Type="http://schemas.openxmlformats.org/officeDocument/2006/relationships/slide" Target="/ppt/slides/slide5.xml" Id="R21517ebab5c440b9" /><Relationship Type="http://schemas.openxmlformats.org/officeDocument/2006/relationships/slide" Target="/ppt/slides/slide6.xml" Id="Rceb716af4a96443e" /><Relationship Type="http://schemas.openxmlformats.org/officeDocument/2006/relationships/slide" Target="/ppt/slides/slide7.xml" Id="R3dd6973350264289" /><Relationship Type="http://schemas.openxmlformats.org/officeDocument/2006/relationships/slide" Target="/ppt/slides/slide8.xml" Id="R2d324d80dda0414c" /><Relationship Type="http://schemas.openxmlformats.org/officeDocument/2006/relationships/slide" Target="/ppt/slides/slide9.xml" Id="Rf2422bd596e14e6f" /><Relationship Type="http://schemas.openxmlformats.org/officeDocument/2006/relationships/slide" Target="/ppt/slides/slide10.xml" Id="R5e9a7d653cfc4c03" /><Relationship Type="http://schemas.openxmlformats.org/officeDocument/2006/relationships/slide" Target="/ppt/slides/slide11.xml" Id="Rf53a35d309f04f85" /><Relationship Type="http://schemas.openxmlformats.org/officeDocument/2006/relationships/slide" Target="/ppt/slides/slide12.xml" Id="Rc473f70d348a41f7" /><Relationship Type="http://schemas.openxmlformats.org/officeDocument/2006/relationships/slide" Target="/ppt/slides/slide13.xml" Id="R129bf33368f84784" /><Relationship Type="http://schemas.openxmlformats.org/officeDocument/2006/relationships/slide" Target="/ppt/slides/slide14.xml" Id="Reb8150c2646140f2" /><Relationship Type="http://schemas.openxmlformats.org/officeDocument/2006/relationships/slide" Target="/ppt/slides/slide15.xml" Id="R7399eae0e54f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a51e185df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9571bc4ac4457" /><Relationship Type="http://schemas.openxmlformats.org/officeDocument/2006/relationships/notesMaster" Target="/ppt/notesMasters/notesMaster1.xml" Id="R17277bd31bfb4f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fe462c1e141ef" /><Relationship Type="http://schemas.openxmlformats.org/officeDocument/2006/relationships/notesMaster" Target="/ppt/notesMasters/notesMaster1.xml" Id="Raf315964a325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2cf1c9119c4f82" /><Relationship Type="http://schemas.openxmlformats.org/officeDocument/2006/relationships/notesMaster" Target="/ppt/notesMasters/notesMaster1.xml" Id="R6b8fc75d48fe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0360403b4e4e73" /><Relationship Type="http://schemas.openxmlformats.org/officeDocument/2006/relationships/notesMaster" Target="/ppt/notesMasters/notesMaster1.xml" Id="R0bf7253b176340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424bf08154576" /><Relationship Type="http://schemas.openxmlformats.org/officeDocument/2006/relationships/notesMaster" Target="/ppt/notesMasters/notesMaster1.xml" Id="R0cee5ea40aaf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c340da792f487a" /><Relationship Type="http://schemas.openxmlformats.org/officeDocument/2006/relationships/notesMaster" Target="/ppt/notesMasters/notesMaster1.xml" Id="R384dcefa38ea49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fee77cc1d48ef" /><Relationship Type="http://schemas.openxmlformats.org/officeDocument/2006/relationships/notesMaster" Target="/ppt/notesMasters/notesMaster1.xml" Id="Rbec4c2d2ff1b4a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177fdd3bd349f4" /><Relationship Type="http://schemas.openxmlformats.org/officeDocument/2006/relationships/notesMaster" Target="/ppt/notesMasters/notesMaster1.xml" Id="R56992e303cfb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9150867e8429f" /><Relationship Type="http://schemas.openxmlformats.org/officeDocument/2006/relationships/notesMaster" Target="/ppt/notesMasters/notesMaster1.xml" Id="R1a8ead55ff4647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0ac671397a47e0" /><Relationship Type="http://schemas.openxmlformats.org/officeDocument/2006/relationships/notesMaster" Target="/ppt/notesMasters/notesMaster1.xml" Id="R20578789b3bd4d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69de1377674d0b" /><Relationship Type="http://schemas.openxmlformats.org/officeDocument/2006/relationships/notesMaster" Target="/ppt/notesMasters/notesMaster1.xml" Id="R862ad97ff44240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eead302a8449e7" /><Relationship Type="http://schemas.openxmlformats.org/officeDocument/2006/relationships/notesMaster" Target="/ppt/notesMasters/notesMaster1.xml" Id="R0a048496c172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a628e8a01f4f5a" /><Relationship Type="http://schemas.openxmlformats.org/officeDocument/2006/relationships/notesMaster" Target="/ppt/notesMasters/notesMaster1.xml" Id="Rd0dac2890ed94a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c702f1b7e46b3" /><Relationship Type="http://schemas.openxmlformats.org/officeDocument/2006/relationships/notesMaster" Target="/ppt/notesMasters/notesMaster1.xml" Id="R7d8b857487c442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2b0e19d1264733" /><Relationship Type="http://schemas.openxmlformats.org/officeDocument/2006/relationships/notesMaster" Target="/ppt/notesMasters/notesMaster1.xml" Id="R992b75972c6b48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académico: clasificar riesgo y priorizar seguimiento. Aclarar que la autoría académica no se ha confirmado. La evaluación es retrospectiva, no un piloto de intervención.</a:t>
            </a:r>
          </a:p>
          <a:p xmlns:a="http://schemas.openxmlformats.org/drawingml/2006/main">
            <a:r>
              <a:t>Fuente: Memoria final, 18/10/2026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reserva puede cancelar y generar incertidumbre de demanda. El seguimiento consume tiempo. Diferenciar capacidad predictiva de eficacia del contacto. No se estiman ahorros ni se recomiendan penalizaciones.</a:t>
            </a:r>
          </a:p>
          <a:p xmlns:a="http://schemas.openxmlformats.org/drawingml/2006/main">
            <a:r>
              <a:t>Fuente: Memoria, introducción y alcance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calidad y asociaciones, construir pipelines sin ajuste global, contrastar algoritmos y cerrar una decisión antes de prueba. El enunciado oficial no se ha localizado.</a:t>
            </a:r>
          </a:p>
          <a:p xmlns:a="http://schemas.openxmlformats.org/drawingml/2006/main">
            <a:r>
              <a:t>Fuente: Informes de fases 1 a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Archivo local compatible con Hotel Booking Demand, sin cadena de descarga acreditada. La publicación describe 31 variables por hotel y el archivo combinado añade hotel. Conservar duplicados evita asumir errores sin un ID real.</a:t>
            </a:r>
          </a:p>
          <a:p xmlns:a="http://schemas.openxmlformats.org/drawingml/2006/main">
            <a:r>
              <a:t>Fuente: Fases 1 y 2. António et al., 2019, DOI 10.1016/j.dib.2018.11.126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tasa City supera la de Resort en el archivo completo. Lead time cero tiene 6,78% y mayor a 365 días 67,66%, grupos seleccionados no exhaustivos. No atribuir causalidad. El EDA utilizó todo el archivo y esa exposición se declara.</a:t>
            </a:r>
          </a:p>
          <a:p xmlns:a="http://schemas.openxmlformats.org/drawingml/2006/main">
            <a:r>
              <a:t>Fuente: Fase 2, EDA global. No corresponde a prueba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Seis numéricas y ocho categóricas. Numéricas: lead_time, total_nights, adults, children, babies, children_missing. Categóricas: hotel, mes, meal, country, mercado, canal, habitación reservada y tipo de cliente. OHE ignora categorías desconocidas. Solo logística escala.</a:t>
            </a:r>
          </a:p>
          <a:p xmlns:a="http://schemas.openxmlformats.org/drawingml/2006/main">
            <a:r>
              <a:t>Fuente: Fase 3 y especificación congelada de fase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excluyen estado final y fecha de estado, además de 12 campos inciertos. V2 seleccionaba por disponibilidad de desenlaces, favoreciendo cancelaciones anticipadas. V3 usa llegada y seguimiento común de bloque. Embargos julio-agosto 2016 y enero-febrero 2017. Train completa un ciclo anual. Cierre de prueba asumido 01/12/2018, sin certificación PMS.</a:t>
            </a:r>
          </a:p>
          <a:p xmlns:a="http://schemas.openxmlformats.org/drawingml/2006/main">
            <a:r>
              <a:t>Fuente: Fases 3, 7.1 y manifiesto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v2: logística, árbol profundidad 8, bosque 200 árboles, XGBoost 300 y LightGBM 300. La búsqueda v2 tuvo 54 ajustes y no mejoró evaluación externa. TreeExplainer sobre 3.000 filas de XGBoost v2 destacó país y antelación. No explica la logística final ni implica causalidad.</a:t>
            </a:r>
          </a:p>
          <a:p xmlns:a="http://schemas.openxmlformats.org/drawingml/2006/main">
            <a:r>
              <a:t>Fuente: Fases 5, 6 y 7. Experimentos históricos 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cinco algoritmos se compararon en v2, una población distinta. En v3 se mantienen los dos iniciales sin optimizar. XGBoost mejora AUC, AP y Brier. Esta diapositiva no compara resultados entre protocolos.</a:t>
            </a:r>
          </a:p>
          <a:p xmlns:a="http://schemas.openxmlformats.org/drawingml/2006/main">
            <a:r>
              <a:t>Fuente: seleccion_8_metricas.csv y seleccion_8_calibracion.csv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igual volumen mensual de 3.980 prioridades, logística identifica 32 TP más. Es una ventaja pequeña, descriptiva, sin prueba de superioridad estadística. A 30% gana XGBoost. Se valora también menor complejidad. La capacidad 20% se fijó como supuesto antes del análisis, sin escogerla para favorecer un modelo.</a:t>
            </a:r>
          </a:p>
          <a:p xmlns:a="http://schemas.openxmlformats.org/drawingml/2006/main">
            <a:r>
              <a:t>Fuente: Fase 8, capacidad mensual del 20% en validación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mes reúne ambos hoteles. Se aplica floor del 20% dentro del mes, no del total multimensual. Ante empate exacto: SHA256 UTF-8 de 42|ID ascendente y después ID numérico. Sin redondeo de scores, etiquetas ni cuotas por hotel. Requiere lote completo y revisión humana, sin garantía de evitar cancelaciones.</a:t>
            </a:r>
          </a:p>
          <a:p xmlns:a="http://schemas.openxmlformats.org/drawingml/2006/main">
            <a:r>
              <a:t>Fuente: Especificación congelada de fase 8 y src/decision_policy.py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32.829 reservas, 13.136 cancelaciones, 6.564 prioridades. Matriz TN18469 FP1224 FN7796 TP5340. Una inferencia, scores congelados antes de acceder a objetivos. Comparar con validación sin cambiar el modelo ni política. Precision baja 4,25 puntos y recall 4,35.</a:t>
            </a:r>
          </a:p>
          <a:p xmlns:a="http://schemas.openxmlformats.org/drawingml/2006/main">
            <a:r>
              <a:t>Fuente: Fase 9, evaluacion_9_metricas.json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Precision mensual: marzo80,38 abril91,70 mayo93,90 junio89,99 julio68,17 agosto58,68%. City prioriza23,73% con precision82,99 y recall45,88. Resort11,81%, precision74,16 y recall26,04. Son cuotas compartidas. Los cambios de temporada y composición no permiten atribuir causalidad ni concluir una tendencia permanente con seis meses.</a:t>
            </a:r>
          </a:p>
          <a:p xmlns:a="http://schemas.openxmlformats.org/drawingml/2006/main">
            <a:r>
              <a:t>Fuente: Fase 9, tablas mensuales y por hotel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Faltan snapshots iniciales y cierre operativo acreditado. Fecha de alta aproximada no observada. Parte de prueba estuvo expuesta bajo v2 y al EDA. Validación reutilizada. Scores no calibrados, promedio35,21% frente40,01% observado. Intervalos por bloques descriptivos, sin cobertura garantizada. Sin costes, eficacia de intervención ni ID real.</a:t>
            </a:r>
          </a:p>
          <a:p xmlns:a="http://schemas.openxmlformats.org/drawingml/2006/main">
            <a:r>
              <a:t>Fuente: Memoria, limitaciones y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integra conocimientos de calidad, pipelines, comparación, búsqueda temporal, SHAP y evaluación. En prueba cubre40,65% de cancelaciones al20% de capacidad y deja7796 sin prioridad. Conservar decisiones congeladas. Trabajo futuro: nuevas reservas con trazabilidad, evaluación externa y piloto humano. Confirmar autoría y rúbrica del profesor antes de entregar.</a:t>
            </a:r>
          </a:p>
          <a:p xmlns:a="http://schemas.openxmlformats.org/drawingml/2006/main">
            <a:r>
              <a:t>Fuente: Memoria final y evaluación congelada de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1e5dbba654e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4fa927d044f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3fb3155c344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1caf6514640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ac2cd4219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d0ff075f7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D687D6-88FA-4579-B940-7B9AA3695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2FC591-A046-4724-A179-0A78170FE7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BAEBD8-5BFC-4C23-BAC3-96C4F22EA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F01D2A-7E25-4730-99BE-EFF08C757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6686CD-D643-434C-A9A2-C722E6454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3A868F-5AB2-45CD-A996-41773E791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004225-F395-446F-B89B-D7F5B4680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F6596F-60EC-47D1-B6E5-732D94CF4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A653B-22CA-4FB3-9320-C66A5B40C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E93FB4-F029-4D7A-B1ED-90CD06E5A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f7ba081ab4c4a" /><Relationship Type="http://schemas.openxmlformats.org/officeDocument/2006/relationships/slideLayout" Target="/ppt/slideLayouts/slideLayout1.xml" Id="R146e648b56414dd8" /><Relationship Type="http://schemas.openxmlformats.org/officeDocument/2006/relationships/slideLayout" Target="/ppt/slideLayouts/slideLayout2.xml" Id="Rd86942598ff641ee" /><Relationship Type="http://schemas.openxmlformats.org/officeDocument/2006/relationships/slideLayout" Target="/ppt/slideLayouts/slideLayout3.xml" Id="R1e96d29edbd542ed" /><Relationship Type="http://schemas.openxmlformats.org/officeDocument/2006/relationships/slideLayout" Target="/ppt/slideLayouts/slideLayout4.xml" Id="R711f72d17ace4fc7" /><Relationship Type="http://schemas.openxmlformats.org/officeDocument/2006/relationships/slideLayout" Target="/ppt/slideLayouts/slideLayout5.xml" Id="Rb1b609113b144676" /><Relationship Type="http://schemas.openxmlformats.org/officeDocument/2006/relationships/slideLayout" Target="/ppt/slideLayouts/slideLayout6.xml" Id="R40edec428d7743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e648b56414dd8"/>
    <p:sldLayoutId xmlns:r="http://schemas.openxmlformats.org/officeDocument/2006/relationships" id="2147483650" r:id="Rd86942598ff641ee"/>
    <p:sldLayoutId xmlns:r="http://schemas.openxmlformats.org/officeDocument/2006/relationships" id="2147483651" r:id="R1e96d29edbd542ed"/>
    <p:sldLayoutId xmlns:r="http://schemas.openxmlformats.org/officeDocument/2006/relationships" id="2147483652" r:id="R711f72d17ace4fc7"/>
    <p:sldLayoutId xmlns:r="http://schemas.openxmlformats.org/officeDocument/2006/relationships" id="2147483653" r:id="Rb1b609113b144676"/>
    <p:sldLayoutId xmlns:r="http://schemas.openxmlformats.org/officeDocument/2006/relationships" id="2147483654" r:id="R40edec428d7743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0793f429945a7" /><Relationship Type="http://schemas.openxmlformats.org/officeDocument/2006/relationships/notesSlide" Target="/ppt/notesSlides/notesSlide1.xml" Id="R0326823c0a45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4743f25204957" /><Relationship Type="http://schemas.openxmlformats.org/officeDocument/2006/relationships/notesSlide" Target="/ppt/notesSlides/notesSlide2.xml" Id="Ra46a1617f412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e1ba490cd4a4d" /><Relationship Type="http://schemas.openxmlformats.org/officeDocument/2006/relationships/notesSlide" Target="/ppt/notesSlides/notesSlide3.xml" Id="Rfab1e7fe13e448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8fd6f368b472d" /><Relationship Type="http://schemas.openxmlformats.org/officeDocument/2006/relationships/notesSlide" Target="/ppt/notesSlides/notesSlide4.xml" Id="Rcbdc563553da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d070eeee04de1" /><Relationship Type="http://schemas.openxmlformats.org/officeDocument/2006/relationships/chart" Target="/ppt/slides/charts/chart1.xml" Id="Re1693d62e50b42c2" /><Relationship Type="http://schemas.openxmlformats.org/officeDocument/2006/relationships/notesSlide" Target="/ppt/notesSlides/notesSlide5.xml" Id="R267937172a4b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696cf862d4d53" /><Relationship Type="http://schemas.openxmlformats.org/officeDocument/2006/relationships/notesSlide" Target="/ppt/notesSlides/notesSlide6.xml" Id="Rd1743352135c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2428b077645ed" /><Relationship Type="http://schemas.openxmlformats.org/officeDocument/2006/relationships/notesSlide" Target="/ppt/notesSlides/notesSlide7.xml" Id="Rf16d28ae7838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655f5af8c43bf" /><Relationship Type="http://schemas.openxmlformats.org/officeDocument/2006/relationships/notesSlide" Target="/ppt/notesSlides/notesSlide8.xml" Id="R151bb68f997a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7ec6cf9da4b2e" /><Relationship Type="http://schemas.openxmlformats.org/officeDocument/2006/relationships/chart" Target="/ppt/slides/charts/chart2.xml" Id="R2040dc7c4b9448fd" /><Relationship Type="http://schemas.openxmlformats.org/officeDocument/2006/relationships/notesSlide" Target="/ppt/notesSlides/notesSlide9.xml" Id="R2a11ddb0d36249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05e9bb5364923" /><Relationship Type="http://schemas.openxmlformats.org/officeDocument/2006/relationships/notesSlide" Target="/ppt/notesSlides/notesSlide10.xml" Id="R318b904876aa4c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c2d886c8548ba" /><Relationship Type="http://schemas.openxmlformats.org/officeDocument/2006/relationships/notesSlide" Target="/ppt/notesSlides/notesSlide11.xml" Id="Ra555c380b78f45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62a067f4e4580" /><Relationship Type="http://schemas.openxmlformats.org/officeDocument/2006/relationships/notesSlide" Target="/ppt/notesSlides/notesSlide12.xml" Id="R82596f72b1fb4f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da3e563704f07" /><Relationship Type="http://schemas.openxmlformats.org/officeDocument/2006/relationships/chart" Target="/ppt/slides/charts/chart3.xml" Id="Rfb89451c92944680" /><Relationship Type="http://schemas.openxmlformats.org/officeDocument/2006/relationships/notesSlide" Target="/ppt/notesSlides/notesSlide13.xml" Id="R518b172e78dd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929b2b3ad447a" /><Relationship Type="http://schemas.openxmlformats.org/officeDocument/2006/relationships/notesSlide" Target="/ppt/notesSlides/notesSlide14.xml" Id="Reb9b005341f34b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8c5a973794501" /><Relationship Type="http://schemas.openxmlformats.org/officeDocument/2006/relationships/notesSlide" Target="/ppt/notesSlides/notesSlide15.xml" Id="R5a8a3f0f454241a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hotel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Lit>
              <c:ptCount val="2"/>
              <c:pt idx="0">
                <c:v>City Hotel</c:v>
              </c:pt>
              <c:pt idx="1">
                <c:v>Resort Hotel</c:v>
              </c:pt>
            </c:strLit>
          </c:cat>
          <c:val>
            <c:numLit>
              <c:formatCode>0%</c:formatCode>
              <c:ptCount val="2"/>
              <c:pt idx="0">
                <c:v>0.41727</c:v>
              </c:pt>
              <c:pt idx="1">
                <c:v>0.277634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Discriminación global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Lit>
              <c:ptCount val="2"/>
              <c:pt idx="0">
                <c:v>Logística</c:v>
              </c:pt>
              <c:pt idx="1">
                <c:v>XGBoost</c:v>
              </c:pt>
            </c:strLit>
          </c:cat>
          <c:val>
            <c:numLit>
              <c:formatCode>0.0</c:formatCode>
              <c:ptCount val="2"/>
              <c:pt idx="0">
                <c:v>0.79459</c:v>
              </c:pt>
              <c:pt idx="1">
                <c:v>0.830592</c:v>
              </c:pt>
            </c:numLit>
          </c:val>
        </c:ser>
        <c:ser>
          <c:idx val="1"/>
          <c:order val="1"/>
          <c:tx>
            <c:v>Average Precision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Lit>
              <c:ptCount val="2"/>
              <c:pt idx="0">
                <c:v>Logística</c:v>
              </c:pt>
              <c:pt idx="1">
                <c:v>XGBoost</c:v>
              </c:pt>
            </c:strLit>
          </c:cat>
          <c:val>
            <c:numLit>
              <c:formatCode>0.0</c:formatCode>
              <c:ptCount val="2"/>
              <c:pt idx="0">
                <c:v>0.762161</c:v>
              </c:pt>
              <c:pt idx="1">
                <c:v>0.790062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Política mensual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173E58"/>
              </a:solidFill>
            </a:ln>
          </c:spPr>
          <c:marker>
            <c:symbol val="none"/>
          </c:marker>
          <c:cat>
            <c:strLit>
              <c:ptCount val="6"/>
              <c:pt idx="0">
                <c:v>Mar</c:v>
              </c:pt>
              <c:pt idx="1">
                <c:v>Abr</c:v>
              </c:pt>
              <c:pt idx="2">
                <c:v>May</c:v>
              </c:pt>
              <c:pt idx="3">
                <c:v>Jun</c:v>
              </c:pt>
              <c:pt idx="4">
                <c:v>Jul</c:v>
              </c:pt>
              <c:pt idx="5">
                <c:v>Ago</c:v>
              </c:pt>
            </c:strLit>
          </c:cat>
          <c:val>
            <c:numLit>
              <c:formatCode>0%</c:formatCode>
              <c:ptCount val="6"/>
              <c:pt idx="0">
                <c:v>0.803823</c:v>
              </c:pt>
              <c:pt idx="1">
                <c:v>0.916961</c:v>
              </c:pt>
              <c:pt idx="2">
                <c:v>0.938986</c:v>
              </c:pt>
              <c:pt idx="3">
                <c:v>0.899911</c:v>
              </c:pt>
              <c:pt idx="4">
                <c:v>0.681733</c:v>
              </c:pt>
              <c:pt idx="5">
                <c:v>0.586802</c:v>
              </c:pt>
            </c:numLit>
          </c:val>
          <c:smooth val="0"/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168880"/>
              </a:solidFill>
            </a:ln>
          </c:spPr>
          <c:marker>
            <c:symbol val="none"/>
          </c:marker>
          <c:cat>
            <c:strLit>
              <c:ptCount val="6"/>
              <c:pt idx="0">
                <c:v>Mar</c:v>
              </c:pt>
              <c:pt idx="1">
                <c:v>Abr</c:v>
              </c:pt>
              <c:pt idx="2">
                <c:v>May</c:v>
              </c:pt>
              <c:pt idx="3">
                <c:v>Jun</c:v>
              </c:pt>
              <c:pt idx="4">
                <c:v>Jul</c:v>
              </c:pt>
              <c:pt idx="5">
                <c:v>Ago</c:v>
              </c:pt>
            </c:strLit>
          </c:cat>
          <c:val>
            <c:numLit>
              <c:formatCode>0%</c:formatCode>
              <c:ptCount val="6"/>
              <c:pt idx="0">
                <c:v>0.477871</c:v>
              </c:pt>
              <c:pt idx="1">
                <c:v>0.421437</c:v>
              </c:pt>
              <c:pt idx="2">
                <c:v>0.429037</c:v>
              </c:pt>
              <c:pt idx="3">
                <c:v>0.416564</c:v>
              </c:pt>
              <c:pt idx="4">
                <c:v>0.364919</c:v>
              </c:pt>
              <c:pt idx="5">
                <c:v>0.318282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13A9-6B12-4851-9971-72037BB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Predicción de cancelaciones</a:t>
            </a:r>
          </a:p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hoteleras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47DD-B94B-427F-BDF9-F183C7A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A969C-DFC9-4CFE-8843-149FEF6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final, 18/10/2026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1CC02-D7B3-4F65-8381-F7F15DB9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Curso de Data Science y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8A65E-9659-4271-8511-A48E8B6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Modelo y política congelados antes de la evaluación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3CD01-EAA3-443B-A3B1-9881732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Protocolo v3 · Llegadas de 2015 a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E713F-C098-4B7F-9EED-DAEAED3D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Autoría académica sin confirmar</a:t>
            </a:r>
          </a:p>
        </p:txBody>
      </p:sp>
    </p:spTree>
    <p:extLst>
      <p:ext uri="{BB962C8B-B14F-4D97-AF65-F5344CB8AC3E}">
        <p14:creationId xmlns:p14="http://schemas.microsoft.com/office/powerpoint/2010/main" val="518798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77298-461A-4B63-B8EB-A2427443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Problema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0023D-DE31-4C9E-B014-55621974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00B7-FAF2-4BD0-A8B7-B8E3D149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introducción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B4ABB-BF41-4445-BD07-8597248A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Las cancelaciones introducen incertidumbre en la demanda.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6FEDF-CAB4-4556-B17E-02A0D65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Una capacidad limitada exige priorizar revisiones humanas.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5D57B-8DAA-42EA-BBFC-1BEBB8F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El estudio evalúa la detección, sin medir el efecto de intervenir.</a:t>
            </a:r>
          </a:p>
        </p:txBody>
      </p:sp>
    </p:spTree>
    <p:extLst>
      <p:ext uri="{BB962C8B-B14F-4D97-AF65-F5344CB8AC3E}">
        <p14:creationId xmlns:p14="http://schemas.microsoft.com/office/powerpoint/2010/main" val="1886475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6E16B-CE7E-49DF-BB7A-3B41071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A062-E91C-4939-A49C-26DBB68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28363-5AF6-48AD-8285-51E3C232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Informes de fases 1 a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3C456-D524-4547-98AD-9A4F69F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Preparar datos y separar predictores, etiquetas y metadatos.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31587-E7D6-48C1-8BAE-6A6A082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Comparar clasificadores con una estrategia temporal explícita.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D0F1C-97E2-44B6-80E4-CACEB28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una política congelada y documentar sus límites.</a:t>
            </a:r>
          </a:p>
        </p:txBody>
      </p:sp>
    </p:spTree>
    <p:extLst>
      <p:ext uri="{BB962C8B-B14F-4D97-AF65-F5344CB8AC3E}">
        <p14:creationId xmlns:p14="http://schemas.microsoft.com/office/powerpoint/2010/main" val="1769355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989D-912C-4EEC-A5CB-AFBDC32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Dataset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AFAE7-C9E3-47D0-B49A-0CB5C0B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3A75D-F15A-47E5-97AB-9D8E2BC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1 y 2. António et al., 2019, DOI 10.1016/j.dib.2018.11.126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0D77-65D8-4893-AB0C-06A41E3CDD57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Archivo completo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Magnitud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Reservas / columnas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119.390 / 32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City / Resort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79.330 / 40.060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Cancelaciones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44.224 (37,04%)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Duplicados adicionales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31.994, conservados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A3AF9-5CD9-4764-A9CF-A728E79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Llegadas previstas: julio de 2015 a agosto de 2017</a:t>
            </a:r>
          </a:p>
        </p:txBody>
      </p:sp>
    </p:spTree>
    <p:extLst>
      <p:ext uri="{BB962C8B-B14F-4D97-AF65-F5344CB8AC3E}">
        <p14:creationId xmlns:p14="http://schemas.microsoft.com/office/powerpoint/2010/main" val="331164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166F-57C0-4E0E-803F-0D0A83FA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EC71-BB08-411D-8BEE-27E31A9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33788-F7F5-4CB0-88B7-A9798C2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2, EDA global. No corresponde a prueba v3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2F6C2C7-CC18-4C2B-8442-C1450DC50FD4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693d62e50b42c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91BFA-2B76-4F28-B90F-BE3BA57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Antelación cero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6,78% canceladas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Más de 365 días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67,66% canceladas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A9F65-8EC2-442D-83A3-F044109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Asociaciones agregadas, sin interpretación causal</a:t>
            </a:r>
          </a:p>
        </p:txBody>
      </p:sp>
    </p:spTree>
    <p:extLst>
      <p:ext uri="{BB962C8B-B14F-4D97-AF65-F5344CB8AC3E}">
        <p14:creationId xmlns:p14="http://schemas.microsoft.com/office/powerpoint/2010/main" val="125345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3C9EC-CCE9-41C4-A151-1DF1839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Preparación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A0149-B1D1-466E-A62D-DD3A261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9F0F7-F481-441D-9FCC-94990EF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3 y especificación congelada de fase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237E6-8942-4328-BC02-E75B253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14 predictores, con etiqueta y metadatos separados.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953BA-4E6C-4BA0-A3B0-4AA6A5F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Medianas, categorías y escala aprendidas solo en train.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DCBED-84E1-49ED-B076-24D75EB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One-hot con categorías desconocidas ignoradas.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0D66-F0EE-466A-B893-1DE1C1E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119.390 registros conservados y 192 columnas en v3.</a:t>
            </a:r>
          </a:p>
        </p:txBody>
      </p:sp>
    </p:spTree>
    <p:extLst>
      <p:ext uri="{BB962C8B-B14F-4D97-AF65-F5344CB8AC3E}">
        <p14:creationId xmlns:p14="http://schemas.microsoft.com/office/powerpoint/2010/main" val="1754879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5518-9A22-4297-BC74-D28248AB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Prevención de leakage y protocolo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2682-0617-4C61-8319-907BF63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DBA15-4A9A-42AD-90E3-18D566F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3, 7.1 y manifiesto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48D41-BFD5-4248-B93C-326841D80650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Llegadas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Reservas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2015 a jun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49.157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a ago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9.635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Sep a dic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19.911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Ene a feb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7.858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Mar a ago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32.829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C23F7-9E2B-4ADE-A7A0-929A01F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Cohortes retrospectivas con seguimiento común por bloque</a:t>
            </a:r>
          </a:p>
        </p:txBody>
      </p:sp>
    </p:spTree>
    <p:extLst>
      <p:ext uri="{BB962C8B-B14F-4D97-AF65-F5344CB8AC3E}">
        <p14:creationId xmlns:p14="http://schemas.microsoft.com/office/powerpoint/2010/main" val="245430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7C242-6B56-4435-AAA7-A7F1BFB1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Algoritmos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16F45-21B3-4C94-9D43-52E42D3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EAF9-6CD0-45E3-A538-12255343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5, 6 y 7. Experimentos históricos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4A02F-CE5F-4A80-AE21-94858AD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Logística, árbol, Random Forest, XGBoost y LightGBM.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6223-EEFB-4566-A797-93C7137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Optimización temporal histórica sin mejora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4D04E-7ECF-45B6-8A4F-C11FF63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SHAP analizó XGBoost v2: país y antelación destacaron.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D569F-AF15-4EAF-B69E-13FB3E40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 v3 solo se compararon logística y XGBoost iniciales.</a:t>
            </a:r>
          </a:p>
        </p:txBody>
      </p:sp>
    </p:spTree>
    <p:extLst>
      <p:ext uri="{BB962C8B-B14F-4D97-AF65-F5344CB8AC3E}">
        <p14:creationId xmlns:p14="http://schemas.microsoft.com/office/powerpoint/2010/main" val="215353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7B01-625B-440C-ADD2-36B83A5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Resultados de modelado en validación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4F685-91A3-4B29-86E7-AC5F85D6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DC7F0-7BC5-452D-8D9F-6AE5730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seleccion_8_metricas.csv y seleccion_8_calibracion.csv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D3F416-3678-4F70-BCE1-64DB81FF43B8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0dc7c4b9448f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C5E4-E9A1-41CA-91E5-27A64DB6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XGBoost presenta mejor discriminación global</a:t>
            </a:r>
          </a:p>
        </p:txBody>
      </p:sp>
    </p:spTree>
    <p:extLst>
      <p:ext uri="{BB962C8B-B14F-4D97-AF65-F5344CB8AC3E}">
        <p14:creationId xmlns:p14="http://schemas.microsoft.com/office/powerpoint/2010/main" val="2000078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5B6D1-FE97-488C-B70E-205A8F2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Selección de regresión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763D9-FEC2-4CB6-809A-0DBEF0C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3244C-B727-4D60-8554-93CD389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8, capacidad mensual del 20% en validación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E01A-D418-475F-8E9D-CFC504D6D4D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3.407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3.375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84,80%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44,58%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80900-8FC8-425B-A826-C7F9BFC6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32 aciertos adicionales con el mismo volumen de alertas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2C481-D8C7-4F19-B648-B8CBCC5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Menor complejidad. Ventaja descriptiva y dependiente de capacidad.</a:t>
            </a:r>
          </a:p>
        </p:txBody>
      </p:sp>
    </p:spTree>
    <p:extLst>
      <p:ext uri="{BB962C8B-B14F-4D97-AF65-F5344CB8AC3E}">
        <p14:creationId xmlns:p14="http://schemas.microsoft.com/office/powerpoint/2010/main" val="724038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4F16-5AA0-4243-9FBE-C3DEECE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Política mensual de 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B0A5F-6CB7-4839-ADAF-8AE72ED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1FF6F-3F3B-4E7E-9EAD-B5641F1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Especificación congelada de fase 8 y src/decision_policy.py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09ED8-566D-4B0B-A1FD-40C7206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k = floor(0,20 × reservas del mes)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BA0BB-6376-474C-B4BE-81EAB125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Ambos hoteles comparten el cupo de cada 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ECD8F-E764-4158-9C34-6F198A50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 descendente y desempates SHA256 e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648C8-EA16-4BC2-A8E1-E6D7E30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Capacidad hipotética y seguimiento humano.</a:t>
            </a:r>
          </a:p>
        </p:txBody>
      </p:sp>
    </p:spTree>
    <p:extLst>
      <p:ext uri="{BB962C8B-B14F-4D97-AF65-F5344CB8AC3E}">
        <p14:creationId xmlns:p14="http://schemas.microsoft.com/office/powerpoint/2010/main" val="2789659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120FD-BFC2-4931-B00E-D819E24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Evaluación final sobre prueba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7CEDF-08E3-473E-BB1E-5F40FC6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CDC6D-0620-4F1E-A27D-6E7A9972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evaluacion_9_metricas.json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7A6C6-9649-40F3-87EA-8B221EA9802E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Precision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81,35%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Recall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40,65%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F1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0,5900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0,5421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ROC-AUC / AP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0,7946 / 0,7622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0,7802 / 0,7416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0,17238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0,18534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B1093-185B-4980-9D1D-81AE8CF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6.564 prioridades: 5.340 aciertos y 1.224 falsas alertas</a:t>
            </a:r>
          </a:p>
        </p:txBody>
      </p:sp>
    </p:spTree>
    <p:extLst>
      <p:ext uri="{BB962C8B-B14F-4D97-AF65-F5344CB8AC3E}">
        <p14:creationId xmlns:p14="http://schemas.microsoft.com/office/powerpoint/2010/main" val="276968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9BC96-0C45-466F-98CF-C0BDC27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Variabilidad por mes y hotel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9FB5E-C06E-43B5-9FCC-9FC17D4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14B96-B9CD-4323-8485-9ABBF1E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tablas mensuales y por hotel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9DE99A5-FCD4-4714-A1A4-B7DA065F9B60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14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89451c9294468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234E3-BAAC-4108-806D-4A93923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City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23,73%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45,88%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Resort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11,81%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26,04%</a:t>
            </a:r>
          </a:p>
        </p:txBody>
      </p:sp>
    </p:spTree>
    <p:extLst>
      <p:ext uri="{BB962C8B-B14F-4D97-AF65-F5344CB8AC3E}">
        <p14:creationId xmlns:p14="http://schemas.microsoft.com/office/powerpoint/2010/main" val="606022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CC14-D1F6-4C1C-8CAC-D4ECB32F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Limitaciones de la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C1F8-6483-4F5E-AD5F-702D77C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B414-A1F0-4AA8-9B81-B3C7B0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limitaciones y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6743-CB02-43DD-9EAA-3CD99BD6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Diseño retrospectivo, snapshots y cierre operativo inciertos.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3D78A-E02D-4A33-A6BC-7DBF808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Exposición previa parcial de prueba y validación reutilizada.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2E84-AEE9-49D1-9112-CBAF1E6F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Scores sin calibración acreditada y variación mensual.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48EDE-81F0-41C3-A009-F4F2BB9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Sin costes reales ni efecto del seguimiento evaluado.</a:t>
            </a:r>
          </a:p>
        </p:txBody>
      </p:sp>
    </p:spTree>
    <p:extLst>
      <p:ext uri="{BB962C8B-B14F-4D97-AF65-F5344CB8AC3E}">
        <p14:creationId xmlns:p14="http://schemas.microsoft.com/office/powerpoint/2010/main" val="529872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8DF98-6189-4094-9208-3A91657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F4C40-7A9D-40CD-8498-B6C242B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C0E12-A408-4306-838C-E7A033A0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 y evaluación congelada de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E28DA-C968-4094-951B-B869190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5.340 cancelaciones identificadas</a:t>
            </a:r>
          </a:p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en 6.564 prioridades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9BDB0-5A89-4C7E-B2F8-0748387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Cobertura del 40,65%, con diferencias entre meses y hoteles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A2D8B-5D99-4982-BCD7-AD98D34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Nuevos datos trazables y un piloto independiente permitirían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viabilidad operativa y consecuencias del seguimiento.</a:t>
            </a:r>
          </a:p>
        </p:txBody>
      </p:sp>
    </p:spTree>
    <p:extLst>
      <p:ext uri="{BB962C8B-B14F-4D97-AF65-F5344CB8AC3E}">
        <p14:creationId xmlns:p14="http://schemas.microsoft.com/office/powerpoint/2010/main" val="1874137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2026-10-18T16:28:21.3690000Z</dcterms:created>
  <dcterms:modified xsi:type="dcterms:W3CDTF">2026-10-18T16:28:21.3690000Z</dcterms:modified>
</coreProperties>
</file>