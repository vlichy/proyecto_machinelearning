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75e36d9ff842d6" /><Relationship Type="http://schemas.openxmlformats.org/officeDocument/2006/relationships/extended-properties" Target="/docProps/app.xml" Id="Re1811935b98a4c57" /><Relationship Type="http://schemas.openxmlformats.org/officeDocument/2006/relationships/officeDocument" Target="/ppt/presentation.xml" Id="R9f702e261908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e1e69e25043b7"/>
  </p:sldMasterIdLst>
  <p:notesMasterIdLst>
    <p:notesMasterId xmlns:r="http://schemas.openxmlformats.org/officeDocument/2006/relationships" r:id="R3526f040004d48a4"/>
  </p:notesMasterIdLst>
  <p:sldIdLst>
    <p:sldId xmlns:r="http://schemas.openxmlformats.org/officeDocument/2006/relationships" id="256" r:id="Rac0dc80470b348a1"/>
    <p:sldId xmlns:r="http://schemas.openxmlformats.org/officeDocument/2006/relationships" id="257" r:id="Rbd4c302d7cf64cd8"/>
    <p:sldId xmlns:r="http://schemas.openxmlformats.org/officeDocument/2006/relationships" id="258" r:id="R626d134c0ea04b65"/>
    <p:sldId xmlns:r="http://schemas.openxmlformats.org/officeDocument/2006/relationships" id="259" r:id="Ra40a5026c30d483e"/>
    <p:sldId xmlns:r="http://schemas.openxmlformats.org/officeDocument/2006/relationships" id="260" r:id="R3dd670af5589415b"/>
    <p:sldId xmlns:r="http://schemas.openxmlformats.org/officeDocument/2006/relationships" id="261" r:id="Ra2a1d88d83444725"/>
    <p:sldId xmlns:r="http://schemas.openxmlformats.org/officeDocument/2006/relationships" id="262" r:id="Rb555050cf2224314"/>
    <p:sldId xmlns:r="http://schemas.openxmlformats.org/officeDocument/2006/relationships" id="263" r:id="R2ef2f0b7e665453a"/>
    <p:sldId xmlns:r="http://schemas.openxmlformats.org/officeDocument/2006/relationships" id="264" r:id="R2f20980d76df4a3c"/>
    <p:sldId xmlns:r="http://schemas.openxmlformats.org/officeDocument/2006/relationships" id="265" r:id="Raf8527f3b82c4489"/>
    <p:sldId xmlns:r="http://schemas.openxmlformats.org/officeDocument/2006/relationships" id="266" r:id="R75ce031ff0794157"/>
    <p:sldId xmlns:r="http://schemas.openxmlformats.org/officeDocument/2006/relationships" id="267" r:id="Ra2acbe1dcc28481f"/>
    <p:sldId xmlns:r="http://schemas.openxmlformats.org/officeDocument/2006/relationships" id="268" r:id="R2946343751f04a91"/>
    <p:sldId xmlns:r="http://schemas.openxmlformats.org/officeDocument/2006/relationships" id="269" r:id="R457970f0f0f747f8"/>
    <p:sldId xmlns:r="http://schemas.openxmlformats.org/officeDocument/2006/relationships" id="270" r:id="R53fb2643c5c245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369d613f0e4ead" /><Relationship Type="http://schemas.openxmlformats.org/officeDocument/2006/relationships/slideMaster" Target="/ppt/slideMasters/slideMaster1.xml" Id="Rb7de1e69e25043b7" /><Relationship Type="http://schemas.openxmlformats.org/officeDocument/2006/relationships/notesMaster" Target="/ppt/notesMasters/notesMaster1.xml" Id="R3526f040004d48a4" /><Relationship Type="http://schemas.openxmlformats.org/officeDocument/2006/relationships/presProps" Target="/ppt/presProps.xml" Id="R0fe9f9b8a1e14370" /><Relationship Type="http://schemas.openxmlformats.org/officeDocument/2006/relationships/tableStyles" Target="/ppt/tableStyles.xml" Id="Ra67ba98c7a5549a1" /><Relationship Type="http://schemas.openxmlformats.org/officeDocument/2006/relationships/slide" Target="/ppt/slides/slide1.xml" Id="Rac0dc80470b348a1" /><Relationship Type="http://schemas.openxmlformats.org/officeDocument/2006/relationships/slide" Target="/ppt/slides/slide2.xml" Id="Rbd4c302d7cf64cd8" /><Relationship Type="http://schemas.openxmlformats.org/officeDocument/2006/relationships/slide" Target="/ppt/slides/slide3.xml" Id="R626d134c0ea04b65" /><Relationship Type="http://schemas.openxmlformats.org/officeDocument/2006/relationships/slide" Target="/ppt/slides/slide4.xml" Id="Ra40a5026c30d483e" /><Relationship Type="http://schemas.openxmlformats.org/officeDocument/2006/relationships/slide" Target="/ppt/slides/slide5.xml" Id="R3dd670af5589415b" /><Relationship Type="http://schemas.openxmlformats.org/officeDocument/2006/relationships/slide" Target="/ppt/slides/slide6.xml" Id="Ra2a1d88d83444725" /><Relationship Type="http://schemas.openxmlformats.org/officeDocument/2006/relationships/slide" Target="/ppt/slides/slide7.xml" Id="Rb555050cf2224314" /><Relationship Type="http://schemas.openxmlformats.org/officeDocument/2006/relationships/slide" Target="/ppt/slides/slide8.xml" Id="R2ef2f0b7e665453a" /><Relationship Type="http://schemas.openxmlformats.org/officeDocument/2006/relationships/slide" Target="/ppt/slides/slide9.xml" Id="R2f20980d76df4a3c" /><Relationship Type="http://schemas.openxmlformats.org/officeDocument/2006/relationships/slide" Target="/ppt/slides/slide10.xml" Id="Raf8527f3b82c4489" /><Relationship Type="http://schemas.openxmlformats.org/officeDocument/2006/relationships/slide" Target="/ppt/slides/slide11.xml" Id="R75ce031ff0794157" /><Relationship Type="http://schemas.openxmlformats.org/officeDocument/2006/relationships/slide" Target="/ppt/slides/slide12.xml" Id="Ra2acbe1dcc28481f" /><Relationship Type="http://schemas.openxmlformats.org/officeDocument/2006/relationships/slide" Target="/ppt/slides/slide13.xml" Id="R2946343751f04a91" /><Relationship Type="http://schemas.openxmlformats.org/officeDocument/2006/relationships/slide" Target="/ppt/slides/slide14.xml" Id="R457970f0f0f747f8" /><Relationship Type="http://schemas.openxmlformats.org/officeDocument/2006/relationships/slide" Target="/ppt/slides/slide15.xml" Id="R53fb2643c5c245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64eca99ad74a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80aa6c87c4fee" /><Relationship Type="http://schemas.openxmlformats.org/officeDocument/2006/relationships/notesMaster" Target="/ppt/notesMasters/notesMaster1.xml" Id="R860bfff579e541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af56334c5464d" /><Relationship Type="http://schemas.openxmlformats.org/officeDocument/2006/relationships/notesMaster" Target="/ppt/notesMasters/notesMaster1.xml" Id="R9b7be0dd73364b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86dc0a3f314522" /><Relationship Type="http://schemas.openxmlformats.org/officeDocument/2006/relationships/notesMaster" Target="/ppt/notesMasters/notesMaster1.xml" Id="R170486e80a41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380ff7a8a49e6" /><Relationship Type="http://schemas.openxmlformats.org/officeDocument/2006/relationships/notesMaster" Target="/ppt/notesMasters/notesMaster1.xml" Id="R82c975864c9b41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ceb4b95e384d4e" /><Relationship Type="http://schemas.openxmlformats.org/officeDocument/2006/relationships/notesMaster" Target="/ppt/notesMasters/notesMaster1.xml" Id="Rf3f6607c71be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81066d71e549c4" /><Relationship Type="http://schemas.openxmlformats.org/officeDocument/2006/relationships/notesMaster" Target="/ppt/notesMasters/notesMaster1.xml" Id="R25c2ecc131964b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69372ccfd94b05" /><Relationship Type="http://schemas.openxmlformats.org/officeDocument/2006/relationships/notesMaster" Target="/ppt/notesMasters/notesMaster1.xml" Id="R566216fa46324e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3081114fe4b57" /><Relationship Type="http://schemas.openxmlformats.org/officeDocument/2006/relationships/notesMaster" Target="/ppt/notesMasters/notesMaster1.xml" Id="Re7f8fa4de73e43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4062a5a981443c" /><Relationship Type="http://schemas.openxmlformats.org/officeDocument/2006/relationships/notesMaster" Target="/ppt/notesMasters/notesMaster1.xml" Id="Rd94cb98c104443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616c9b34684d9b" /><Relationship Type="http://schemas.openxmlformats.org/officeDocument/2006/relationships/notesMaster" Target="/ppt/notesMasters/notesMaster1.xml" Id="R71b73115969443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f572ae8fcc47f5" /><Relationship Type="http://schemas.openxmlformats.org/officeDocument/2006/relationships/notesMaster" Target="/ppt/notesMasters/notesMaster1.xml" Id="Rf5b04c0b93b640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cdbe29d7f04c65" /><Relationship Type="http://schemas.openxmlformats.org/officeDocument/2006/relationships/notesMaster" Target="/ppt/notesMasters/notesMaster1.xml" Id="Rb92b3c16dc1449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c556501da364ec6" /><Relationship Type="http://schemas.openxmlformats.org/officeDocument/2006/relationships/notesMaster" Target="/ppt/notesMasters/notesMaster1.xml" Id="Rc3fccc0a198c40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a76cab20f54a65" /><Relationship Type="http://schemas.openxmlformats.org/officeDocument/2006/relationships/notesMaster" Target="/ppt/notesMasters/notesMaster1.xml" Id="Rf5b7ffc9f93a4c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bfe35748e846ef" /><Relationship Type="http://schemas.openxmlformats.org/officeDocument/2006/relationships/notesMaster" Target="/ppt/notesMasters/notesMaster1.xml" Id="R70b9a7832601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objetivo académico: clasificar riesgo y priorizar seguimiento. Aclarar que la autoría académica no se ha confirmado. La evaluación es retrospectiva, no un piloto de intervención.</a:t>
            </a:r>
          </a:p>
          <a:p xmlns:a="http://schemas.openxmlformats.org/drawingml/2006/main">
            <a:r>
              <a:t>Fuente: Memoria final, 18/10/2026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Una reserva puede cancelar y generar incertidumbre de demanda. El seguimiento consume tiempo. Diferenciar capacidad predictiva de eficacia del contacto. No se estiman ahorros ni se recomiendan penalizaciones.</a:t>
            </a:r>
          </a:p>
          <a:p xmlns:a="http://schemas.openxmlformats.org/drawingml/2006/main">
            <a:r>
              <a:t>Fuente: Memoria, introducción y alcance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Describir calidad y asociaciones, construir pipelines sin ajuste global, contrastar algoritmos y cerrar una decisión antes de prueba. El enunciado oficial no se ha localizado.</a:t>
            </a:r>
          </a:p>
          <a:p xmlns:a="http://schemas.openxmlformats.org/drawingml/2006/main">
            <a:r>
              <a:t>Fuente: Informes de fases 1 a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Archivo local compatible con Hotel Booking Demand, sin cadena de descarga acreditada. La publicación describe 31 variables por hotel y el archivo combinado añade hotel. Conservar duplicados evita asumir errores sin un ID real.</a:t>
            </a:r>
          </a:p>
          <a:p xmlns:a="http://schemas.openxmlformats.org/drawingml/2006/main">
            <a:r>
              <a:t>Fuente: Fases 1 y 2. António et al., 2019, DOI 10.1016/j.dib.2018.11.126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tasa City supera la de Resort en el archivo completo. Lead time cero tiene 6,78% y mayor a 365 días 67,66%, grupos seleccionados no exhaustivos. No atribuir causalidad. El EDA utilizó todo el archivo y esa exposición se declara.</a:t>
            </a:r>
          </a:p>
          <a:p xmlns:a="http://schemas.openxmlformats.org/drawingml/2006/main">
            <a:r>
              <a:t>Fuente: Fase 2, EDA global. No corresponde a prueba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Seis numéricas y ocho categóricas. Numéricas: lead_time, total_nights, adults, children, babies, children_missing. Categóricas: hotel, mes, meal, country, mercado, canal, habitación reservada y tipo de cliente. OHE ignora categorías desconocidas. Solo logística escala.</a:t>
            </a:r>
          </a:p>
          <a:p xmlns:a="http://schemas.openxmlformats.org/drawingml/2006/main">
            <a:r>
              <a:t>Fuente: Fase 3 y especificación congelada de fase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 excluyen estado final y fecha de estado, además de 12 campos inciertos. V2 seleccionaba por disponibilidad de desenlaces, favoreciendo cancelaciones anticipadas. V3 usa llegada y seguimiento común de bloque. Embargos julio-agosto 2016 y enero-febrero 2017. Train completa un ciclo anual. Cierre de prueba asumido 01/12/2018, sin certificación PMS.</a:t>
            </a:r>
          </a:p>
          <a:p xmlns:a="http://schemas.openxmlformats.org/drawingml/2006/main">
            <a:r>
              <a:t>Fuente: Fases 3, 7.1 y manifiesto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Comparación v2: logística, árbol profundidad 8, bosque 200 árboles, XGBoost 300 y LightGBM 300. La búsqueda v2 tuvo 54 ajustes y no mejoró evaluación externa. TreeExplainer sobre 3.000 filas de XGBoost v2 destacó país y antelación. No explica la logística final ni implica causalidad.</a:t>
            </a:r>
          </a:p>
          <a:p xmlns:a="http://schemas.openxmlformats.org/drawingml/2006/main">
            <a:r>
              <a:t>Fuente: Fases 5, 6 y 7. Experimentos históricos 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cinco algoritmos se compararon en v2, una población distinta. En v3 se mantienen los dos iniciales sin optimizar. XGBoost mejora AUC, AP y Brier. Esta diapositiva no compara resultados entre protocolos.</a:t>
            </a:r>
          </a:p>
          <a:p xmlns:a="http://schemas.openxmlformats.org/drawingml/2006/main">
            <a:r>
              <a:t>Fuente: seleccion_8_metricas.csv y seleccion_8_calibracion.csv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igual volumen mensual de 3.980 prioridades, logística identifica 32 TP más. Es una ventaja pequeña, descriptiva, sin prueba de superioridad estadística. A 30% gana XGBoost. Se valora también menor complejidad. La capacidad 20% se fijó como supuesto antes del análisis, sin escogerla para favorecer un modelo.</a:t>
            </a:r>
          </a:p>
          <a:p xmlns:a="http://schemas.openxmlformats.org/drawingml/2006/main">
            <a:r>
              <a:t>Fuente: Fase 8, capacidad mensual del 20% en validación 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mes reúne ambos hoteles. Se aplica floor del 20% dentro del mes, no del total multimensual. Ante empate exacto: SHA256 UTF-8 de 42|ID ascendente y después ID numérico. Sin redondeo de scores, etiquetas ni cuotas por hotel. Requiere lote completo y revisión humana, sin garantía de evitar cancelaciones.</a:t>
            </a:r>
          </a:p>
          <a:p xmlns:a="http://schemas.openxmlformats.org/drawingml/2006/main">
            <a:r>
              <a:t>Fuente: Especificación congelada de fase 8 y src/decision_policy.py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32.829 reservas, 13.136 cancelaciones, 6.564 prioridades. Matriz TN18469 FP1224 FN7796 TP5340. Una inferencia, scores congelados antes de acceder a objetivos. Comparar con validación sin cambiar el modelo ni política. Precision baja 4,25 puntos y recall 4,35.</a:t>
            </a:r>
          </a:p>
          <a:p xmlns:a="http://schemas.openxmlformats.org/drawingml/2006/main">
            <a:r>
              <a:t>Fuente: Fase 9, evaluacion_9_metricas.json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Precision mensual: marzo80,38 abril91,70 mayo93,90 junio89,99 julio68,17 agosto58,68%. City prioriza23,73% con precision82,99 y recall45,88. Resort11,81%, precision74,16 y recall26,04. Son cuotas compartidas. Los cambios de temporada y composición no permiten atribuir causalidad ni concluir una tendencia permanente con seis meses.</a:t>
            </a:r>
          </a:p>
          <a:p xmlns:a="http://schemas.openxmlformats.org/drawingml/2006/main">
            <a:r>
              <a:t>Fuente: Fase 9, tablas mensuales y por hotel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Faltan snapshots iniciales y cierre operativo acreditado. Fecha de alta aproximada no observada. Parte de prueba estuvo expuesta bajo v2 y al EDA. Validación reutilizada. Scores no calibrados, promedio35,21% frente40,01% observado. Intervalos por bloques descriptivos, sin cobertura garantizada. Sin costes, eficacia de intervención ni ID real.</a:t>
            </a:r>
          </a:p>
          <a:p xmlns:a="http://schemas.openxmlformats.org/drawingml/2006/main">
            <a:r>
              <a:t>Fuente: Memoria, limitaciones y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integra conocimientos de calidad, pipelines, comparación, búsqueda temporal, SHAP y evaluación. En prueba cubre40,65% de cancelaciones al20% de capacidad y deja7796 sin prioridad. Conservar decisiones congeladas. Trabajo futuro: nuevas reservas con trazabilidad, evaluación externa y piloto humano. Confirmar autoría y rúbrica del profesor antes de entregar.</a:t>
            </a:r>
          </a:p>
          <a:p xmlns:a="http://schemas.openxmlformats.org/drawingml/2006/main">
            <a:r>
              <a:t>Fuente: Memoria final y evaluación congelada de fase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149ef1cc24a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a3306cdf64d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bf6781d974c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bda1d0e18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0ef2e0e714d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6c9b825d043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0B2E7E-1592-46DC-9742-36BF4BFE53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4595C6-46A3-4C60-A4A6-DC418C7E1A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192EF0-655D-4825-A209-E4D542A36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C4B988-AA35-480F-9603-5995675ECC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59EAE9-FFB6-4D3F-8679-671F108DA8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97FEA7-CA70-43D5-A93B-2A17673F06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26D72B-DF55-42C6-B7D0-EC9A3682C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BD4AC8B-B9A9-4B9C-B13C-32A5A224C5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A0C5AA-095F-42F5-81C6-FBCFEDD75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D74F87-7999-4FB2-AC41-FEE2ADCF9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84c28ac8b4845" /><Relationship Type="http://schemas.openxmlformats.org/officeDocument/2006/relationships/slideLayout" Target="/ppt/slideLayouts/slideLayout1.xml" Id="Rf79fc4bc527743fc" /><Relationship Type="http://schemas.openxmlformats.org/officeDocument/2006/relationships/slideLayout" Target="/ppt/slideLayouts/slideLayout2.xml" Id="Rf708e056952c4bbc" /><Relationship Type="http://schemas.openxmlformats.org/officeDocument/2006/relationships/slideLayout" Target="/ppt/slideLayouts/slideLayout3.xml" Id="R7244b93a0d4b4586" /><Relationship Type="http://schemas.openxmlformats.org/officeDocument/2006/relationships/slideLayout" Target="/ppt/slideLayouts/slideLayout4.xml" Id="R9f3f44bc5695479d" /><Relationship Type="http://schemas.openxmlformats.org/officeDocument/2006/relationships/slideLayout" Target="/ppt/slideLayouts/slideLayout5.xml" Id="R3e0a95cafbc6496a" /><Relationship Type="http://schemas.openxmlformats.org/officeDocument/2006/relationships/slideLayout" Target="/ppt/slideLayouts/slideLayout6.xml" Id="R04c34ca497354f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fc4bc527743fc"/>
    <p:sldLayoutId xmlns:r="http://schemas.openxmlformats.org/officeDocument/2006/relationships" id="2147483650" r:id="Rf708e056952c4bbc"/>
    <p:sldLayoutId xmlns:r="http://schemas.openxmlformats.org/officeDocument/2006/relationships" id="2147483651" r:id="R7244b93a0d4b4586"/>
    <p:sldLayoutId xmlns:r="http://schemas.openxmlformats.org/officeDocument/2006/relationships" id="2147483652" r:id="R9f3f44bc5695479d"/>
    <p:sldLayoutId xmlns:r="http://schemas.openxmlformats.org/officeDocument/2006/relationships" id="2147483653" r:id="R3e0a95cafbc6496a"/>
    <p:sldLayoutId xmlns:r="http://schemas.openxmlformats.org/officeDocument/2006/relationships" id="2147483654" r:id="R04c34ca497354f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b6cf58367a4b9f" /><Relationship Type="http://schemas.openxmlformats.org/officeDocument/2006/relationships/notesSlide" Target="/ppt/notesSlides/notesSlide1.xml" Id="R76c5d7b5ebb14f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1816f2753e4487" /><Relationship Type="http://schemas.openxmlformats.org/officeDocument/2006/relationships/notesSlide" Target="/ppt/notesSlides/notesSlide2.xml" Id="Rd5df9e1af9d342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5a6d30cda40a5" /><Relationship Type="http://schemas.openxmlformats.org/officeDocument/2006/relationships/notesSlide" Target="/ppt/notesSlides/notesSlide3.xml" Id="R9e90587ce25548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af3c765d045c5" /><Relationship Type="http://schemas.openxmlformats.org/officeDocument/2006/relationships/notesSlide" Target="/ppt/notesSlides/notesSlide4.xml" Id="R7ad400dab02c44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337d5b9b4949d7" /><Relationship Type="http://schemas.openxmlformats.org/officeDocument/2006/relationships/chart" Target="/ppt/slides/charts/chart1.xml" Id="Rbadec5c3df3d466c" /><Relationship Type="http://schemas.openxmlformats.org/officeDocument/2006/relationships/notesSlide" Target="/ppt/notesSlides/notesSlide5.xml" Id="Ra6b44a1de7ed4b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eae88e5d2f44dd" /><Relationship Type="http://schemas.openxmlformats.org/officeDocument/2006/relationships/notesSlide" Target="/ppt/notesSlides/notesSlide6.xml" Id="R581660b5a6004f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c867fd10f403a" /><Relationship Type="http://schemas.openxmlformats.org/officeDocument/2006/relationships/notesSlide" Target="/ppt/notesSlides/notesSlide7.xml" Id="R546913abd9a04d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604ac8d4f4a20" /><Relationship Type="http://schemas.openxmlformats.org/officeDocument/2006/relationships/notesSlide" Target="/ppt/notesSlides/notesSlide8.xml" Id="R687e5f9a889448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3e00baa8f475c" /><Relationship Type="http://schemas.openxmlformats.org/officeDocument/2006/relationships/chart" Target="/ppt/slides/charts/chart2.xml" Id="R23cec0de1f8141ec" /><Relationship Type="http://schemas.openxmlformats.org/officeDocument/2006/relationships/notesSlide" Target="/ppt/notesSlides/notesSlide9.xml" Id="R5ffe3a4d2aa24a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60d9432cf41b1" /><Relationship Type="http://schemas.openxmlformats.org/officeDocument/2006/relationships/notesSlide" Target="/ppt/notesSlides/notesSlide10.xml" Id="R97382f23cbaa47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9806f6b5f47d8" /><Relationship Type="http://schemas.openxmlformats.org/officeDocument/2006/relationships/notesSlide" Target="/ppt/notesSlides/notesSlide11.xml" Id="R00e4ae496c104c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8bb25fb924b20" /><Relationship Type="http://schemas.openxmlformats.org/officeDocument/2006/relationships/notesSlide" Target="/ppt/notesSlides/notesSlide12.xml" Id="R55b3ec0890c74d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2e05d8a8a643e3" /><Relationship Type="http://schemas.openxmlformats.org/officeDocument/2006/relationships/chart" Target="/ppt/slides/charts/chart3.xml" Id="R671b770a924644f1" /><Relationship Type="http://schemas.openxmlformats.org/officeDocument/2006/relationships/notesSlide" Target="/ppt/notesSlides/notesSlide13.xml" Id="Rf255c291690d47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b9afe9b69d461d" /><Relationship Type="http://schemas.openxmlformats.org/officeDocument/2006/relationships/notesSlide" Target="/ppt/notesSlides/notesSlide14.xml" Id="R8a85e1e1991c4e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895fc98994527" /><Relationship Type="http://schemas.openxmlformats.org/officeDocument/2006/relationships/notesSlide" Target="/ppt/notesSlides/notesSlide15.xml" Id="Rfdbc70e1185a488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Cancelación por hotel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Tasa de cancelación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City Hotel</c:v>
                </c:pt>
                <c:pt idx="1">
                  <c:v>Resort Hotel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0.41727</c:v>
                </c:pt>
                <c:pt idx="1">
                  <c:v>0.277634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Discriminación global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173E58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0.79459</c:v>
                </c:pt>
                <c:pt idx="1">
                  <c:v>0.830592</c:v>
                </c:pt>
              </c:numCache>
            </c:numRef>
          </c:val>
        </c:ser>
        <c:ser>
          <c:idx val="1"/>
          <c:order val="1"/>
          <c:tx>
            <c:v>Average Precision</c:v>
          </c:tx>
          <c:spPr>
            <a:solidFill xmlns:a="http://schemas.openxmlformats.org/drawingml/2006/main">
              <a:srgbClr val="168880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Logística</c:v>
                </c:pt>
                <c:pt idx="1">
                  <c:v>XGBoost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0.762161</c:v>
                </c:pt>
                <c:pt idx="1">
                  <c:v>0.790062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Arial"/>
                <a:ea typeface="Arial"/>
                <a:cs typeface="Arial"/>
              </a:rPr>
              <a:t>Política mensual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173E58"/>
              </a:solidFill>
            </a:ln>
          </c:spPr>
          <c:marker>
            <c:symbol val="none"/>
          </c:marker>
          <c:cat>
            <c:strRef>
              <c:f>'Chart Data'!$A$2:$A$7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0.803823</c:v>
                </c:pt>
                <c:pt idx="1">
                  <c:v>0.916961</c:v>
                </c:pt>
                <c:pt idx="2">
                  <c:v>0.938986</c:v>
                </c:pt>
                <c:pt idx="3">
                  <c:v>0.899911</c:v>
                </c:pt>
                <c:pt idx="4">
                  <c:v>0.681733</c:v>
                </c:pt>
                <c:pt idx="5">
                  <c:v>0.586802</c:v>
                </c:pt>
              </c:numCache>
            </c:numRef>
          </c:val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168880"/>
              </a:solidFill>
            </a:ln>
          </c:spPr>
          <c:marker>
            <c:symbol val="none"/>
          </c:marker>
          <c:cat>
            <c:strRef>
              <c:f>'Chart Data'!$C$2:$C$7</c:f>
              <c:strCache>
                <c:ptCount val="6"/>
                <c:pt idx="0">
                  <c:v>Mar</c:v>
                </c:pt>
                <c:pt idx="1">
                  <c:v>Abr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Ago</c:v>
                </c:pt>
              </c:strCache>
            </c:strRef>
          </c:cat>
          <c:val>
            <c:numRef>
              <c:f>'Chart Data'!$D$2:$D$7</c:f>
              <c:numCache>
                <c:formatCode>0%</c:formatCode>
                <c:ptCount val="6"/>
                <c:pt idx="0">
                  <c:v>0.477871</c:v>
                </c:pt>
                <c:pt idx="1">
                  <c:v>0.421437</c:v>
                </c:pt>
                <c:pt idx="2">
                  <c:v>0.429037</c:v>
                </c:pt>
                <c:pt idx="3">
                  <c:v>0.416564</c:v>
                </c:pt>
                <c:pt idx="4">
                  <c:v>0.364919</c:v>
                </c:pt>
                <c:pt idx="5">
                  <c:v>0.318282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2BE18-F561-4BAC-AD0E-A3EE360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Predicción de cancelaciones</a:t>
            </a:r>
          </a:p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hoteleras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72F88-7396-43E3-A8EB-7C0CCA97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874A5-29D8-4AB0-AE82-C0C4556E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Memoria final, 18/10/2026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5892A-8E53-461A-9360-E62D6EA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8880"/>
                </a:solidFill>
              </a:defRPr>
            </a:defPPr>
            <a:lvl1pPr>
              <a:defRPr sz="2325" b="0">
                <a:solidFill>
                  <a:srgbClr val="168880"/>
                </a:solidFill>
              </a:defRPr>
            </a:lvl1pPr>
            <a:lvl2pPr>
              <a:defRPr sz="2325" b="0">
                <a:solidFill>
                  <a:srgbClr val="168880"/>
                </a:solidFill>
              </a:defRPr>
            </a:lvl2pPr>
            <a:lvl3pPr>
              <a:defRPr sz="2325" b="0">
                <a:solidFill>
                  <a:srgbClr val="168880"/>
                </a:solidFill>
              </a:defRPr>
            </a:lvl3pPr>
            <a:lvl4pPr>
              <a:defRPr sz="2325" b="0">
                <a:solidFill>
                  <a:srgbClr val="168880"/>
                </a:solidFill>
              </a:defRPr>
            </a:lvl4pPr>
            <a:lvl5pPr>
              <a:defRPr sz="2325" b="0">
                <a:solidFill>
                  <a:srgbClr val="168880"/>
                </a:solidFill>
              </a:defRPr>
            </a:lvl5pPr>
            <a:lvl6pPr>
              <a:defRPr sz="2325" b="0">
                <a:solidFill>
                  <a:srgbClr val="168880"/>
                </a:solidFill>
              </a:defRPr>
            </a:lvl6pPr>
            <a:lvl7pPr>
              <a:defRPr sz="2325" b="0">
                <a:solidFill>
                  <a:srgbClr val="168880"/>
                </a:solidFill>
              </a:defRPr>
            </a:lvl7pPr>
            <a:lvl8pPr>
              <a:defRPr sz="2325" b="0">
                <a:solidFill>
                  <a:srgbClr val="168880"/>
                </a:solidFill>
              </a:defRPr>
            </a:lvl8pPr>
            <a:lvl9pPr>
              <a:defRPr sz="2325" b="0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8880"/>
                </a:solidFill>
              </a:defRPr>
            </a:pPr>
            <a:r>
              <a:rPr sz="2325" b="0">
                <a:solidFill>
                  <a:srgbClr val="168880"/>
                </a:solidFill>
              </a:rPr>
              <a:t>Curso de Data Science y Machine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AE52E-8EC8-47CB-80F6-769D7B32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Modelo y política congelados antes de la evaluación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23EC0-257C-4E5D-BE60-8CD7C07B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</a:defRPr>
            </a:defPPr>
            <a:lvl1pPr>
              <a:defRPr sz="1875" b="0">
                <a:solidFill>
                  <a:srgbClr val="243746"/>
                </a:solidFill>
              </a:defRPr>
            </a:lvl1pPr>
            <a:lvl2pPr>
              <a:defRPr sz="1875" b="0">
                <a:solidFill>
                  <a:srgbClr val="243746"/>
                </a:solidFill>
              </a:defRPr>
            </a:lvl2pPr>
            <a:lvl3pPr>
              <a:defRPr sz="1875" b="0">
                <a:solidFill>
                  <a:srgbClr val="243746"/>
                </a:solidFill>
              </a:defRPr>
            </a:lvl3pPr>
            <a:lvl4pPr>
              <a:defRPr sz="1875" b="0">
                <a:solidFill>
                  <a:srgbClr val="243746"/>
                </a:solidFill>
              </a:defRPr>
            </a:lvl4pPr>
            <a:lvl5pPr>
              <a:defRPr sz="1875" b="0">
                <a:solidFill>
                  <a:srgbClr val="243746"/>
                </a:solidFill>
              </a:defRPr>
            </a:lvl5pPr>
            <a:lvl6pPr>
              <a:defRPr sz="1875" b="0">
                <a:solidFill>
                  <a:srgbClr val="243746"/>
                </a:solidFill>
              </a:defRPr>
            </a:lvl6pPr>
            <a:lvl7pPr>
              <a:defRPr sz="1875" b="0">
                <a:solidFill>
                  <a:srgbClr val="243746"/>
                </a:solidFill>
              </a:defRPr>
            </a:lvl7pPr>
            <a:lvl8pPr>
              <a:defRPr sz="1875" b="0">
                <a:solidFill>
                  <a:srgbClr val="243746"/>
                </a:solidFill>
              </a:defRPr>
            </a:lvl8pPr>
            <a:lvl9pPr>
              <a:defRPr sz="18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</a:defRPr>
            </a:pPr>
            <a:r>
              <a:rPr sz="1875" b="0">
                <a:solidFill>
                  <a:srgbClr val="243746"/>
                </a:solidFill>
              </a:rPr>
              <a:t>Protocolo v3 · Llegadas de 2015 a 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D2D6B-2EE7-4CF6-AD25-14172F92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482"/>
                </a:solidFill>
              </a:defRPr>
            </a:defPPr>
            <a:lvl1pPr>
              <a:defRPr sz="1650" b="0">
                <a:solidFill>
                  <a:srgbClr val="627482"/>
                </a:solidFill>
              </a:defRPr>
            </a:lvl1pPr>
            <a:lvl2pPr>
              <a:defRPr sz="1650" b="0">
                <a:solidFill>
                  <a:srgbClr val="627482"/>
                </a:solidFill>
              </a:defRPr>
            </a:lvl2pPr>
            <a:lvl3pPr>
              <a:defRPr sz="1650" b="0">
                <a:solidFill>
                  <a:srgbClr val="627482"/>
                </a:solidFill>
              </a:defRPr>
            </a:lvl3pPr>
            <a:lvl4pPr>
              <a:defRPr sz="1650" b="0">
                <a:solidFill>
                  <a:srgbClr val="627482"/>
                </a:solidFill>
              </a:defRPr>
            </a:lvl4pPr>
            <a:lvl5pPr>
              <a:defRPr sz="1650" b="0">
                <a:solidFill>
                  <a:srgbClr val="627482"/>
                </a:solidFill>
              </a:defRPr>
            </a:lvl5pPr>
            <a:lvl6pPr>
              <a:defRPr sz="1650" b="0">
                <a:solidFill>
                  <a:srgbClr val="627482"/>
                </a:solidFill>
              </a:defRPr>
            </a:lvl6pPr>
            <a:lvl7pPr>
              <a:defRPr sz="1650" b="0">
                <a:solidFill>
                  <a:srgbClr val="627482"/>
                </a:solidFill>
              </a:defRPr>
            </a:lvl7pPr>
            <a:lvl8pPr>
              <a:defRPr sz="1650" b="0">
                <a:solidFill>
                  <a:srgbClr val="627482"/>
                </a:solidFill>
              </a:defRPr>
            </a:lvl8pPr>
            <a:lvl9pPr>
              <a:defRPr sz="1650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482"/>
                </a:solidFill>
              </a:defRPr>
            </a:pPr>
            <a:r>
              <a:rPr sz="1650" b="0">
                <a:solidFill>
                  <a:srgbClr val="627482"/>
                </a:solidFill>
              </a:rPr>
              <a:t>Autoría académica sin confirmar</a:t>
            </a:r>
          </a:p>
        </p:txBody>
      </p:sp>
    </p:spTree>
    <p:extLst>
      <p:ext uri="{BB962C8B-B14F-4D97-AF65-F5344CB8AC3E}">
        <p14:creationId xmlns:p14="http://schemas.microsoft.com/office/powerpoint/2010/main" val="1231132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BFC06-A79E-483B-B072-817EE2A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Problema de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86E0C-3465-42BC-8C0C-0B6B4A2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172E7-52E7-4353-B995-0813384A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Memoria, introducción y alcance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42135-755A-4D58-AF81-2D9C1212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Las cancelaciones introducen incertidumbre en la demanda.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74D7D-A9D3-418D-9C85-C8FA530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Una capacidad limitada exige priorizar revisiones humanas.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0100-3FDB-49FE-A914-0B0AB1A9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El estudio evalúa la detección, sin medir el efecto de intervenir.</a:t>
            </a:r>
          </a:p>
        </p:txBody>
      </p:sp>
    </p:spTree>
    <p:extLst>
      <p:ext uri="{BB962C8B-B14F-4D97-AF65-F5344CB8AC3E}">
        <p14:creationId xmlns:p14="http://schemas.microsoft.com/office/powerpoint/2010/main" val="187909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C2DBC-F619-4663-BB99-BEE2F026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Objetivos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E32CA-5578-4F8C-8768-3CC09D10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EEB11-558A-4268-9766-528BF0D4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Informes de fases 1 a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AD65F-DC81-4696-AC9A-C4D84A8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Preparar datos y separar predictores, etiquetas y metadatos.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F6F62-3802-4F70-A31E-DC286F35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Comparar clasificadores con una estrategia temporal explícita.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C875B-DBC6-460A-8E4E-809060A3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Evaluar una política congelada y documentar sus límites.</a:t>
            </a:r>
          </a:p>
        </p:txBody>
      </p:sp>
    </p:spTree>
    <p:extLst>
      <p:ext uri="{BB962C8B-B14F-4D97-AF65-F5344CB8AC3E}">
        <p14:creationId xmlns:p14="http://schemas.microsoft.com/office/powerpoint/2010/main" val="17660675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95BF3-616F-4B66-9ADB-4F6F2F09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Dataset y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21AEB-AF8B-44EC-B24E-3D80A478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4250E-D5E5-4D15-86EC-E5D3B6BF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Fases 1 y 2. António et al., 2019, DOI 10.1016/j.dib.2018.11.126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7B59D-1719-4B96-8D7E-F0EC0EDB5AA5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Archivo completo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Magnitud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Reservas / columnas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119.390 / 32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City / Resort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79.330 / 40.060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Cancelaciones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44.224 (37,04%)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Duplicados adicionales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31.994, conservados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1CA79-5E9C-4F81-97A9-9569F519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</a:defRPr>
            </a:defPPr>
            <a:lvl1pPr>
              <a:defRPr sz="1875" b="0">
                <a:solidFill>
                  <a:srgbClr val="243746"/>
                </a:solidFill>
              </a:defRPr>
            </a:lvl1pPr>
            <a:lvl2pPr>
              <a:defRPr sz="1875" b="0">
                <a:solidFill>
                  <a:srgbClr val="243746"/>
                </a:solidFill>
              </a:defRPr>
            </a:lvl2pPr>
            <a:lvl3pPr>
              <a:defRPr sz="1875" b="0">
                <a:solidFill>
                  <a:srgbClr val="243746"/>
                </a:solidFill>
              </a:defRPr>
            </a:lvl3pPr>
            <a:lvl4pPr>
              <a:defRPr sz="1875" b="0">
                <a:solidFill>
                  <a:srgbClr val="243746"/>
                </a:solidFill>
              </a:defRPr>
            </a:lvl4pPr>
            <a:lvl5pPr>
              <a:defRPr sz="1875" b="0">
                <a:solidFill>
                  <a:srgbClr val="243746"/>
                </a:solidFill>
              </a:defRPr>
            </a:lvl5pPr>
            <a:lvl6pPr>
              <a:defRPr sz="1875" b="0">
                <a:solidFill>
                  <a:srgbClr val="243746"/>
                </a:solidFill>
              </a:defRPr>
            </a:lvl6pPr>
            <a:lvl7pPr>
              <a:defRPr sz="1875" b="0">
                <a:solidFill>
                  <a:srgbClr val="243746"/>
                </a:solidFill>
              </a:defRPr>
            </a:lvl7pPr>
            <a:lvl8pPr>
              <a:defRPr sz="1875" b="0">
                <a:solidFill>
                  <a:srgbClr val="243746"/>
                </a:solidFill>
              </a:defRPr>
            </a:lvl8pPr>
            <a:lvl9pPr>
              <a:defRPr sz="18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</a:defRPr>
            </a:pPr>
            <a:r>
              <a:rPr sz="1875" b="0">
                <a:solidFill>
                  <a:srgbClr val="243746"/>
                </a:solidFill>
              </a:rPr>
              <a:t>Llegadas previstas: julio de 2015 a agosto de 2017</a:t>
            </a:r>
          </a:p>
        </p:txBody>
      </p:sp>
    </p:spTree>
    <p:extLst>
      <p:ext uri="{BB962C8B-B14F-4D97-AF65-F5344CB8AC3E}">
        <p14:creationId xmlns:p14="http://schemas.microsoft.com/office/powerpoint/2010/main" val="1110604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49680-1F65-4C0F-9C6E-89CF4E38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Análisis exploratorio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259DB-1BD1-413B-8DCE-B42F251F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2160F-1174-40A0-ABC7-B367FA51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 2, EDA global. No corresponde a prueba v3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5027121-65F2-487B-8AF1-143D172FCA56}"/>
              </a:ext>
            </a:extLst>
          </p:cNvPr>
          <p:cNvGraphicFramePr/>
          <p:nvPr/>
        </p:nvGraphicFramePr>
        <p:xfrm>
          <a:off xmlns:a="http://schemas.openxmlformats.org/drawingml/2006/main" x="666750" y="1381125"/>
          <a:ext xmlns:a="http://schemas.openxmlformats.org/drawingml/2006/main" cx="647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dec5c3df3d466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569B2-54E0-4653-9109-87386B08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</a:defRPr>
            </a:defPPr>
            <a:lvl1pPr>
              <a:defRPr sz="2100" b="0">
                <a:solidFill>
                  <a:srgbClr val="243746"/>
                </a:solidFill>
              </a:defRPr>
            </a:lvl1pPr>
            <a:lvl2pPr>
              <a:defRPr sz="2100" b="0">
                <a:solidFill>
                  <a:srgbClr val="243746"/>
                </a:solidFill>
              </a:defRPr>
            </a:lvl2pPr>
            <a:lvl3pPr>
              <a:defRPr sz="2100" b="0">
                <a:solidFill>
                  <a:srgbClr val="243746"/>
                </a:solidFill>
              </a:defRPr>
            </a:lvl3pPr>
            <a:lvl4pPr>
              <a:defRPr sz="2100" b="0">
                <a:solidFill>
                  <a:srgbClr val="243746"/>
                </a:solidFill>
              </a:defRPr>
            </a:lvl4pPr>
            <a:lvl5pPr>
              <a:defRPr sz="2100" b="0">
                <a:solidFill>
                  <a:srgbClr val="243746"/>
                </a:solidFill>
              </a:defRPr>
            </a:lvl5pPr>
            <a:lvl6pPr>
              <a:defRPr sz="2100" b="0">
                <a:solidFill>
                  <a:srgbClr val="243746"/>
                </a:solidFill>
              </a:defRPr>
            </a:lvl6pPr>
            <a:lvl7pPr>
              <a:defRPr sz="2100" b="0">
                <a:solidFill>
                  <a:srgbClr val="243746"/>
                </a:solidFill>
              </a:defRPr>
            </a:lvl7pPr>
            <a:lvl8pPr>
              <a:defRPr sz="2100" b="0">
                <a:solidFill>
                  <a:srgbClr val="243746"/>
                </a:solidFill>
              </a:defRPr>
            </a:lvl8pPr>
            <a:lvl9pPr>
              <a:defRPr sz="2100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Antelación cero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6,78% canceladas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Más de 365 días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67,66% canceladas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F87B8-5491-4137-A1B8-13A85A82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8880"/>
                </a:solidFill>
              </a:defRPr>
            </a:defPPr>
            <a:lvl1pPr>
              <a:defRPr sz="1875" b="0">
                <a:solidFill>
                  <a:srgbClr val="168880"/>
                </a:solidFill>
              </a:defRPr>
            </a:lvl1pPr>
            <a:lvl2pPr>
              <a:defRPr sz="1875" b="0">
                <a:solidFill>
                  <a:srgbClr val="168880"/>
                </a:solidFill>
              </a:defRPr>
            </a:lvl2pPr>
            <a:lvl3pPr>
              <a:defRPr sz="1875" b="0">
                <a:solidFill>
                  <a:srgbClr val="168880"/>
                </a:solidFill>
              </a:defRPr>
            </a:lvl3pPr>
            <a:lvl4pPr>
              <a:defRPr sz="1875" b="0">
                <a:solidFill>
                  <a:srgbClr val="168880"/>
                </a:solidFill>
              </a:defRPr>
            </a:lvl4pPr>
            <a:lvl5pPr>
              <a:defRPr sz="1875" b="0">
                <a:solidFill>
                  <a:srgbClr val="168880"/>
                </a:solidFill>
              </a:defRPr>
            </a:lvl5pPr>
            <a:lvl6pPr>
              <a:defRPr sz="1875" b="0">
                <a:solidFill>
                  <a:srgbClr val="168880"/>
                </a:solidFill>
              </a:defRPr>
            </a:lvl6pPr>
            <a:lvl7pPr>
              <a:defRPr sz="1875" b="0">
                <a:solidFill>
                  <a:srgbClr val="168880"/>
                </a:solidFill>
              </a:defRPr>
            </a:lvl7pPr>
            <a:lvl8pPr>
              <a:defRPr sz="1875" b="0">
                <a:solidFill>
                  <a:srgbClr val="168880"/>
                </a:solidFill>
              </a:defRPr>
            </a:lvl8pPr>
            <a:lvl9pPr>
              <a:defRPr sz="1875" b="0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68880"/>
                </a:solidFill>
              </a:defRPr>
            </a:pPr>
            <a:r>
              <a:rPr sz="1875" b="0">
                <a:solidFill>
                  <a:srgbClr val="168880"/>
                </a:solidFill>
              </a:rPr>
              <a:t>Asociaciones agregadas, sin interpretación causal</a:t>
            </a:r>
          </a:p>
        </p:txBody>
      </p:sp>
    </p:spTree>
    <p:extLst>
      <p:ext uri="{BB962C8B-B14F-4D97-AF65-F5344CB8AC3E}">
        <p14:creationId xmlns:p14="http://schemas.microsoft.com/office/powerpoint/2010/main" val="822763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501CA-C898-4C7A-966C-E39E70D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Preparación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1A378-DB1A-4810-B4C4-DC1A6B33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6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E0CDB-4C41-442F-9217-8758D048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 3 y especificación congelada de fase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D3582-AAD6-46D1-B984-7416607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14 predictores, con etiqueta y metadatos separados.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F2487-8AC6-411F-B3D0-54886B5F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Medianas, categorías y escala aprendidas solo en train.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C015A-9387-4D1B-B08E-98EAA536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One-hot con categorías desconocidas ignoradas.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FF147-62A5-4E18-A8FA-42868A04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119.390 registros conservados y 192 columnas en v3.</a:t>
            </a:r>
          </a:p>
        </p:txBody>
      </p:sp>
    </p:spTree>
    <p:extLst>
      <p:ext uri="{BB962C8B-B14F-4D97-AF65-F5344CB8AC3E}">
        <p14:creationId xmlns:p14="http://schemas.microsoft.com/office/powerpoint/2010/main" val="19729251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5F9C8-C689-4335-9363-DD81DB12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Prevención de leakage y protocolo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14B5A-283F-4E2D-BA9D-72FAE91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7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C356B-9260-4CCF-9845-A1A2C13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Fases 3, 7.1 y manifiesto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CAB75-84A8-4409-8C7D-74CBD995A4A0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Bloque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Llegadas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Reservas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Train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Jul 2015 a jun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49.157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Jul a ago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9.635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Validación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Sep a dic 2016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19.911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Embargo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Ene a feb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7.858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Prueba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Mar a ago 2017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32.829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52F1A-51D6-45D8-B3B0-1911C00D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68880"/>
                </a:solidFill>
              </a:defRPr>
            </a:defPPr>
            <a:lvl1pPr>
              <a:defRPr sz="1950" b="0">
                <a:solidFill>
                  <a:srgbClr val="168880"/>
                </a:solidFill>
              </a:defRPr>
            </a:lvl1pPr>
            <a:lvl2pPr>
              <a:defRPr sz="1950" b="0">
                <a:solidFill>
                  <a:srgbClr val="168880"/>
                </a:solidFill>
              </a:defRPr>
            </a:lvl2pPr>
            <a:lvl3pPr>
              <a:defRPr sz="1950" b="0">
                <a:solidFill>
                  <a:srgbClr val="168880"/>
                </a:solidFill>
              </a:defRPr>
            </a:lvl3pPr>
            <a:lvl4pPr>
              <a:defRPr sz="1950" b="0">
                <a:solidFill>
                  <a:srgbClr val="168880"/>
                </a:solidFill>
              </a:defRPr>
            </a:lvl4pPr>
            <a:lvl5pPr>
              <a:defRPr sz="1950" b="0">
                <a:solidFill>
                  <a:srgbClr val="168880"/>
                </a:solidFill>
              </a:defRPr>
            </a:lvl5pPr>
            <a:lvl6pPr>
              <a:defRPr sz="1950" b="0">
                <a:solidFill>
                  <a:srgbClr val="168880"/>
                </a:solidFill>
              </a:defRPr>
            </a:lvl6pPr>
            <a:lvl7pPr>
              <a:defRPr sz="1950" b="0">
                <a:solidFill>
                  <a:srgbClr val="168880"/>
                </a:solidFill>
              </a:defRPr>
            </a:lvl7pPr>
            <a:lvl8pPr>
              <a:defRPr sz="1950" b="0">
                <a:solidFill>
                  <a:srgbClr val="168880"/>
                </a:solidFill>
              </a:defRPr>
            </a:lvl8pPr>
            <a:lvl9pPr>
              <a:defRPr sz="1950" b="0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8880"/>
                </a:solidFill>
              </a:defRPr>
            </a:pPr>
            <a:r>
              <a:rPr sz="1950" b="0">
                <a:solidFill>
                  <a:srgbClr val="168880"/>
                </a:solidFill>
              </a:rPr>
              <a:t>Cohortes retrospectivas con seguimiento común por bloque</a:t>
            </a:r>
          </a:p>
        </p:txBody>
      </p:sp>
    </p:spTree>
    <p:extLst>
      <p:ext uri="{BB962C8B-B14F-4D97-AF65-F5344CB8AC3E}">
        <p14:creationId xmlns:p14="http://schemas.microsoft.com/office/powerpoint/2010/main" val="1237649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36F5F3-88F0-4FE9-BEF9-CD9C189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Algoritmos comparados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EDAE6-E1CE-4D4E-A585-9CA4E3FA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8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F7E73-B3F2-48A8-A01F-AC783FE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Fases 5, 6 y 7. Experimentos históricos 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86840-84D7-4EFC-B4AE-8108A04E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Logística, árbol, Random Forest, XGBoost y LightGBM.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CDF88-5CD1-49B3-BF2F-7F84CE1A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Optimización temporal histórica sin mejora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6C0E2-C5BB-4E56-A567-EA3DBAE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SHAP analizó XGBoost v2: país y antelación destacaron.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2EED8-B300-4CE2-BC5E-F66E3F7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En v3 solo se compararon logística y XGBoost iniciales.</a:t>
            </a:r>
          </a:p>
        </p:txBody>
      </p:sp>
    </p:spTree>
    <p:extLst>
      <p:ext uri="{BB962C8B-B14F-4D97-AF65-F5344CB8AC3E}">
        <p14:creationId xmlns:p14="http://schemas.microsoft.com/office/powerpoint/2010/main" val="46491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9959C-8AC6-4238-9738-495EE151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Resultados de modelado en validación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2F1CB-5F58-4BD5-8F12-56842B0F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9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4A67A-FE21-421F-93CE-76B38B2B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seleccion_8_metricas.csv y seleccion_8_calibracion.csv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92BACB0-A450-41F9-BD08-D304ECF8947A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cec0de1f8141e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FD8B9-63C9-4F74-B7AE-8AC92A6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</a:defRPr>
            </a:defPPr>
            <a:lvl1pPr>
              <a:defRPr sz="2025" b="0">
                <a:solidFill>
                  <a:srgbClr val="168880"/>
                </a:solidFill>
              </a:defRPr>
            </a:lvl1pPr>
            <a:lvl2pPr>
              <a:defRPr sz="2025" b="0">
                <a:solidFill>
                  <a:srgbClr val="168880"/>
                </a:solidFill>
              </a:defRPr>
            </a:lvl2pPr>
            <a:lvl3pPr>
              <a:defRPr sz="2025" b="0">
                <a:solidFill>
                  <a:srgbClr val="168880"/>
                </a:solidFill>
              </a:defRPr>
            </a:lvl3pPr>
            <a:lvl4pPr>
              <a:defRPr sz="2025" b="0">
                <a:solidFill>
                  <a:srgbClr val="168880"/>
                </a:solidFill>
              </a:defRPr>
            </a:lvl4pPr>
            <a:lvl5pPr>
              <a:defRPr sz="2025" b="0">
                <a:solidFill>
                  <a:srgbClr val="168880"/>
                </a:solidFill>
              </a:defRPr>
            </a:lvl5pPr>
            <a:lvl6pPr>
              <a:defRPr sz="2025" b="0">
                <a:solidFill>
                  <a:srgbClr val="168880"/>
                </a:solidFill>
              </a:defRPr>
            </a:lvl6pPr>
            <a:lvl7pPr>
              <a:defRPr sz="2025" b="0">
                <a:solidFill>
                  <a:srgbClr val="168880"/>
                </a:solidFill>
              </a:defRPr>
            </a:lvl7pPr>
            <a:lvl8pPr>
              <a:defRPr sz="2025" b="0">
                <a:solidFill>
                  <a:srgbClr val="168880"/>
                </a:solidFill>
              </a:defRPr>
            </a:lvl8pPr>
            <a:lvl9pPr>
              <a:defRPr sz="2025" b="0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</a:defRPr>
            </a:pPr>
            <a:r>
              <a:rPr sz="2025" b="0">
                <a:solidFill>
                  <a:srgbClr val="168880"/>
                </a:solidFill>
              </a:rPr>
              <a:t>XGBoost presenta mejor discriminación global</a:t>
            </a:r>
          </a:p>
        </p:txBody>
      </p:sp>
    </p:spTree>
    <p:extLst>
      <p:ext uri="{BB962C8B-B14F-4D97-AF65-F5344CB8AC3E}">
        <p14:creationId xmlns:p14="http://schemas.microsoft.com/office/powerpoint/2010/main" val="10511551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A3713-239E-4048-9411-CDAE4FAF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Selección de regresión logística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0163A-6187-4C4F-8CB8-2FAC643E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10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061D4-5F59-4BF2-B6B1-DC0D1201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 8, capacidad mensual del 20% en validación v3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3AAEF-7DF1-4DDB-BFA2-240F7A907F38}"/>
              </a:ext>
            </a:extLst>
          </p:cNvPr>
          <p:cNvGraphicFramePr/>
          <p:nvPr/>
        </p:nvGraphicFramePr>
        <p:xfrm>
          <a:off xmlns:a="http://schemas.openxmlformats.org/drawingml/2006/main" x="666750" y="1714500"/>
          <a:ext xmlns:a="http://schemas.openxmlformats.org/drawingml/2006/main" cx="108585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762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Modelo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TP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Precision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Recall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Logística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3.407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XGBoost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3.375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84,80%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44,58%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085E6-7516-4423-B755-66F1ED34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8880"/>
                </a:solidFill>
              </a:defRPr>
            </a:defPPr>
            <a:lvl1pPr>
              <a:defRPr sz="2250" b="1">
                <a:solidFill>
                  <a:srgbClr val="168880"/>
                </a:solidFill>
              </a:defRPr>
            </a:lvl1pPr>
            <a:lvl2pPr>
              <a:defRPr sz="2250" b="1">
                <a:solidFill>
                  <a:srgbClr val="168880"/>
                </a:solidFill>
              </a:defRPr>
            </a:lvl2pPr>
            <a:lvl3pPr>
              <a:defRPr sz="2250" b="1">
                <a:solidFill>
                  <a:srgbClr val="168880"/>
                </a:solidFill>
              </a:defRPr>
            </a:lvl3pPr>
            <a:lvl4pPr>
              <a:defRPr sz="2250" b="1">
                <a:solidFill>
                  <a:srgbClr val="168880"/>
                </a:solidFill>
              </a:defRPr>
            </a:lvl4pPr>
            <a:lvl5pPr>
              <a:defRPr sz="2250" b="1">
                <a:solidFill>
                  <a:srgbClr val="168880"/>
                </a:solidFill>
              </a:defRPr>
            </a:lvl5pPr>
            <a:lvl6pPr>
              <a:defRPr sz="2250" b="1">
                <a:solidFill>
                  <a:srgbClr val="168880"/>
                </a:solidFill>
              </a:defRPr>
            </a:lvl6pPr>
            <a:lvl7pPr>
              <a:defRPr sz="2250" b="1">
                <a:solidFill>
                  <a:srgbClr val="168880"/>
                </a:solidFill>
              </a:defRPr>
            </a:lvl7pPr>
            <a:lvl8pPr>
              <a:defRPr sz="2250" b="1">
                <a:solidFill>
                  <a:srgbClr val="168880"/>
                </a:solidFill>
              </a:defRPr>
            </a:lvl8pPr>
            <a:lvl9pPr>
              <a:defRPr sz="2250" b="1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8880"/>
                </a:solidFill>
              </a:defRPr>
            </a:pPr>
            <a:r>
              <a:rPr sz="2250" b="1">
                <a:solidFill>
                  <a:srgbClr val="168880"/>
                </a:solidFill>
              </a:rPr>
              <a:t>32 aciertos adicionales con el mismo volumen de alertas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BD5B0-E3CD-44D3-8402-28AC0D5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</a:defRPr>
            </a:defPPr>
            <a:lvl1pPr>
              <a:defRPr sz="1875" b="0">
                <a:solidFill>
                  <a:srgbClr val="243746"/>
                </a:solidFill>
              </a:defRPr>
            </a:lvl1pPr>
            <a:lvl2pPr>
              <a:defRPr sz="1875" b="0">
                <a:solidFill>
                  <a:srgbClr val="243746"/>
                </a:solidFill>
              </a:defRPr>
            </a:lvl2pPr>
            <a:lvl3pPr>
              <a:defRPr sz="1875" b="0">
                <a:solidFill>
                  <a:srgbClr val="243746"/>
                </a:solidFill>
              </a:defRPr>
            </a:lvl3pPr>
            <a:lvl4pPr>
              <a:defRPr sz="1875" b="0">
                <a:solidFill>
                  <a:srgbClr val="243746"/>
                </a:solidFill>
              </a:defRPr>
            </a:lvl4pPr>
            <a:lvl5pPr>
              <a:defRPr sz="1875" b="0">
                <a:solidFill>
                  <a:srgbClr val="243746"/>
                </a:solidFill>
              </a:defRPr>
            </a:lvl5pPr>
            <a:lvl6pPr>
              <a:defRPr sz="1875" b="0">
                <a:solidFill>
                  <a:srgbClr val="243746"/>
                </a:solidFill>
              </a:defRPr>
            </a:lvl6pPr>
            <a:lvl7pPr>
              <a:defRPr sz="1875" b="0">
                <a:solidFill>
                  <a:srgbClr val="243746"/>
                </a:solidFill>
              </a:defRPr>
            </a:lvl7pPr>
            <a:lvl8pPr>
              <a:defRPr sz="1875" b="0">
                <a:solidFill>
                  <a:srgbClr val="243746"/>
                </a:solidFill>
              </a:defRPr>
            </a:lvl8pPr>
            <a:lvl9pPr>
              <a:defRPr sz="18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</a:defRPr>
            </a:pPr>
            <a:r>
              <a:rPr sz="1875" b="0">
                <a:solidFill>
                  <a:srgbClr val="243746"/>
                </a:solidFill>
              </a:rPr>
              <a:t>Menor complejidad. Ventaja descriptiva y dependiente de capacidad.</a:t>
            </a:r>
          </a:p>
        </p:txBody>
      </p:sp>
    </p:spTree>
    <p:extLst>
      <p:ext uri="{BB962C8B-B14F-4D97-AF65-F5344CB8AC3E}">
        <p14:creationId xmlns:p14="http://schemas.microsoft.com/office/powerpoint/2010/main" val="1935511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C8652-19FD-4AB8-A3FA-C070D2AE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Política mensual de priorización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82E06-0D4C-4463-B339-ED5CF2D0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11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D1FE8-B1A8-4D13-861F-83BCDE20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Especificación congelada de fase 8 y src/decision_policy.py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EAE09-7805-4CD4-9BFF-247BD9E3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68880"/>
                </a:solidFill>
              </a:defRPr>
            </a:defPPr>
            <a:lvl1pPr>
              <a:defRPr sz="3225" b="1">
                <a:solidFill>
                  <a:srgbClr val="168880"/>
                </a:solidFill>
              </a:defRPr>
            </a:lvl1pPr>
            <a:lvl2pPr>
              <a:defRPr sz="3225" b="1">
                <a:solidFill>
                  <a:srgbClr val="168880"/>
                </a:solidFill>
              </a:defRPr>
            </a:lvl2pPr>
            <a:lvl3pPr>
              <a:defRPr sz="3225" b="1">
                <a:solidFill>
                  <a:srgbClr val="168880"/>
                </a:solidFill>
              </a:defRPr>
            </a:lvl3pPr>
            <a:lvl4pPr>
              <a:defRPr sz="3225" b="1">
                <a:solidFill>
                  <a:srgbClr val="168880"/>
                </a:solidFill>
              </a:defRPr>
            </a:lvl4pPr>
            <a:lvl5pPr>
              <a:defRPr sz="3225" b="1">
                <a:solidFill>
                  <a:srgbClr val="168880"/>
                </a:solidFill>
              </a:defRPr>
            </a:lvl5pPr>
            <a:lvl6pPr>
              <a:defRPr sz="3225" b="1">
                <a:solidFill>
                  <a:srgbClr val="168880"/>
                </a:solidFill>
              </a:defRPr>
            </a:lvl6pPr>
            <a:lvl7pPr>
              <a:defRPr sz="3225" b="1">
                <a:solidFill>
                  <a:srgbClr val="168880"/>
                </a:solidFill>
              </a:defRPr>
            </a:lvl7pPr>
            <a:lvl8pPr>
              <a:defRPr sz="3225" b="1">
                <a:solidFill>
                  <a:srgbClr val="168880"/>
                </a:solidFill>
              </a:defRPr>
            </a:lvl8pPr>
            <a:lvl9pPr>
              <a:defRPr sz="3225" b="1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68880"/>
                </a:solidFill>
              </a:defRPr>
            </a:pPr>
            <a:r>
              <a:rPr sz="3225" b="1">
                <a:solidFill>
                  <a:srgbClr val="168880"/>
                </a:solidFill>
              </a:rPr>
              <a:t>k = floor(0,20 × reservas del mes)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11C5E-0FC2-4736-AC66-C97E5AF1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Ambos hoteles comparten el cupo de cada 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63A7-C8BF-4FB9-82D6-689A73E9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Score descendente y desempates SHA256 e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BAE48-D9DE-4096-8FC2-BD5CF868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746"/>
                </a:solidFill>
              </a:defRPr>
            </a:defPPr>
            <a:lvl1pPr>
              <a:defRPr sz="2175" b="0">
                <a:solidFill>
                  <a:srgbClr val="243746"/>
                </a:solidFill>
              </a:defRPr>
            </a:lvl1pPr>
            <a:lvl2pPr>
              <a:defRPr sz="2175" b="0">
                <a:solidFill>
                  <a:srgbClr val="243746"/>
                </a:solidFill>
              </a:defRPr>
            </a:lvl2pPr>
            <a:lvl3pPr>
              <a:defRPr sz="2175" b="0">
                <a:solidFill>
                  <a:srgbClr val="243746"/>
                </a:solidFill>
              </a:defRPr>
            </a:lvl3pPr>
            <a:lvl4pPr>
              <a:defRPr sz="2175" b="0">
                <a:solidFill>
                  <a:srgbClr val="243746"/>
                </a:solidFill>
              </a:defRPr>
            </a:lvl4pPr>
            <a:lvl5pPr>
              <a:defRPr sz="2175" b="0">
                <a:solidFill>
                  <a:srgbClr val="243746"/>
                </a:solidFill>
              </a:defRPr>
            </a:lvl5pPr>
            <a:lvl6pPr>
              <a:defRPr sz="2175" b="0">
                <a:solidFill>
                  <a:srgbClr val="243746"/>
                </a:solidFill>
              </a:defRPr>
            </a:lvl6pPr>
            <a:lvl7pPr>
              <a:defRPr sz="2175" b="0">
                <a:solidFill>
                  <a:srgbClr val="243746"/>
                </a:solidFill>
              </a:defRPr>
            </a:lvl7pPr>
            <a:lvl8pPr>
              <a:defRPr sz="2175" b="0">
                <a:solidFill>
                  <a:srgbClr val="243746"/>
                </a:solidFill>
              </a:defRPr>
            </a:lvl8pPr>
            <a:lvl9pPr>
              <a:defRPr sz="217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3746"/>
                </a:solidFill>
              </a:defRPr>
            </a:pPr>
            <a:r>
              <a:rPr sz="2175" b="0">
                <a:solidFill>
                  <a:srgbClr val="243746"/>
                </a:solidFill>
              </a:rPr>
              <a:t>Capacidad hipotética y seguimiento humano.</a:t>
            </a:r>
          </a:p>
        </p:txBody>
      </p:sp>
    </p:spTree>
    <p:extLst>
      <p:ext uri="{BB962C8B-B14F-4D97-AF65-F5344CB8AC3E}">
        <p14:creationId xmlns:p14="http://schemas.microsoft.com/office/powerpoint/2010/main" val="193066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92FEF-8D47-4915-A5E5-E2CE4A28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Evaluación final sobre prueba v3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DC947-ABC2-46DC-BCB4-309EBD37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12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7C790-5202-404D-8CC6-679B522C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 9, evaluacion_9_metricas.json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5A0EE-AAFC-47ED-8F66-3338266E1AD2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Métrica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Validación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3E58"/>
                          </a:solidFill>
                        </a:rPr>
                        <a:t>Prueba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T w="4763">
                      <a:solidFill>
                        <a:srgbClr val="D7DFE3"/>
                      </a:solidFill>
                      <a:prstDash val="solid"/>
                    </a:lnT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E4EFF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Precision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85,60%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81,35%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Recall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45,01%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40,65%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F1 política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0,5900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0,5421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ROC-AUC / AP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0,7946 / 0,7622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0,7802 / 0,7416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Brier</a:t>
                      </a:r>
                    </a:p>
                  </a:txBody>
                  <a:tcPr marL="114300" marR="114300" marT="114300" marB="114300">
                    <a:lnL w="4763">
                      <a:solidFill>
                        <a:srgbClr val="D7DFE3"/>
                      </a:solidFill>
                      <a:prstDash val="solid"/>
                    </a:lnL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0,17238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3746"/>
                          </a:solidFill>
                        </a:rPr>
                        <a:t>0,18534</a:t>
                      </a:r>
                    </a:p>
                  </a:txBody>
                  <a:tcPr marL="114300" marR="114300" marT="114300" marB="114300">
                    <a:lnR w="4763">
                      <a:solidFill>
                        <a:srgbClr val="D7DFE3"/>
                      </a:solidFill>
                      <a:prstDash val="solid"/>
                    </a:lnR>
                    <a:lnB w="4763">
                      <a:solidFill>
                        <a:srgbClr val="D7DF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D79B7-4905-4295-975D-C30FB78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8880"/>
                </a:solidFill>
              </a:defRPr>
            </a:defPPr>
            <a:lvl1pPr>
              <a:defRPr sz="2025" b="0">
                <a:solidFill>
                  <a:srgbClr val="168880"/>
                </a:solidFill>
              </a:defRPr>
            </a:lvl1pPr>
            <a:lvl2pPr>
              <a:defRPr sz="2025" b="0">
                <a:solidFill>
                  <a:srgbClr val="168880"/>
                </a:solidFill>
              </a:defRPr>
            </a:lvl2pPr>
            <a:lvl3pPr>
              <a:defRPr sz="2025" b="0">
                <a:solidFill>
                  <a:srgbClr val="168880"/>
                </a:solidFill>
              </a:defRPr>
            </a:lvl3pPr>
            <a:lvl4pPr>
              <a:defRPr sz="2025" b="0">
                <a:solidFill>
                  <a:srgbClr val="168880"/>
                </a:solidFill>
              </a:defRPr>
            </a:lvl4pPr>
            <a:lvl5pPr>
              <a:defRPr sz="2025" b="0">
                <a:solidFill>
                  <a:srgbClr val="168880"/>
                </a:solidFill>
              </a:defRPr>
            </a:lvl5pPr>
            <a:lvl6pPr>
              <a:defRPr sz="2025" b="0">
                <a:solidFill>
                  <a:srgbClr val="168880"/>
                </a:solidFill>
              </a:defRPr>
            </a:lvl6pPr>
            <a:lvl7pPr>
              <a:defRPr sz="2025" b="0">
                <a:solidFill>
                  <a:srgbClr val="168880"/>
                </a:solidFill>
              </a:defRPr>
            </a:lvl7pPr>
            <a:lvl8pPr>
              <a:defRPr sz="2025" b="0">
                <a:solidFill>
                  <a:srgbClr val="168880"/>
                </a:solidFill>
              </a:defRPr>
            </a:lvl8pPr>
            <a:lvl9pPr>
              <a:defRPr sz="2025" b="0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8880"/>
                </a:solidFill>
              </a:defRPr>
            </a:pPr>
            <a:r>
              <a:rPr sz="2025" b="0">
                <a:solidFill>
                  <a:srgbClr val="168880"/>
                </a:solidFill>
              </a:rPr>
              <a:t>6.564 prioridades: 5.340 aciertos y 1.224 falsas alertas</a:t>
            </a:r>
          </a:p>
        </p:txBody>
      </p:sp>
    </p:spTree>
    <p:extLst>
      <p:ext uri="{BB962C8B-B14F-4D97-AF65-F5344CB8AC3E}">
        <p14:creationId xmlns:p14="http://schemas.microsoft.com/office/powerpoint/2010/main" val="9724015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CB7C1-C15F-4647-898C-4A116825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Variabilidad por mes y hotel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6FEA0-1496-46D9-B54B-6783555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13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7E02D-8B03-4B00-B6DE-1E21C2B4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Fase 9, tablas mensuales y por hotel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6BEDF9CC-17A8-4D6F-9F2C-A9F07BDAB7E1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714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1b770a924644f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E27FC-1BEC-472B-A394-E9FFA7F9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333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</a:defRPr>
            </a:defPPr>
            <a:lvl1pPr>
              <a:defRPr sz="1950" b="0">
                <a:solidFill>
                  <a:srgbClr val="243746"/>
                </a:solidFill>
              </a:defRPr>
            </a:lvl1pPr>
            <a:lvl2pPr>
              <a:defRPr sz="1950" b="0">
                <a:solidFill>
                  <a:srgbClr val="243746"/>
                </a:solidFill>
              </a:defRPr>
            </a:lvl2pPr>
            <a:lvl3pPr>
              <a:defRPr sz="1950" b="0">
                <a:solidFill>
                  <a:srgbClr val="243746"/>
                </a:solidFill>
              </a:defRPr>
            </a:lvl3pPr>
            <a:lvl4pPr>
              <a:defRPr sz="1950" b="0">
                <a:solidFill>
                  <a:srgbClr val="243746"/>
                </a:solidFill>
              </a:defRPr>
            </a:lvl4pPr>
            <a:lvl5pPr>
              <a:defRPr sz="1950" b="0">
                <a:solidFill>
                  <a:srgbClr val="243746"/>
                </a:solidFill>
              </a:defRPr>
            </a:lvl5pPr>
            <a:lvl6pPr>
              <a:defRPr sz="1950" b="0">
                <a:solidFill>
                  <a:srgbClr val="243746"/>
                </a:solidFill>
              </a:defRPr>
            </a:lvl6pPr>
            <a:lvl7pPr>
              <a:defRPr sz="1950" b="0">
                <a:solidFill>
                  <a:srgbClr val="243746"/>
                </a:solidFill>
              </a:defRPr>
            </a:lvl7pPr>
            <a:lvl8pPr>
              <a:defRPr sz="1950" b="0">
                <a:solidFill>
                  <a:srgbClr val="243746"/>
                </a:solidFill>
              </a:defRPr>
            </a:lvl8pPr>
            <a:lvl9pPr>
              <a:defRPr sz="1950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City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23,73%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Recall 45,88%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Resort Hotel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11,81% priorizado</a:t>
            </a:r>
          </a:p>
          <a:p xmlns:a="http://schemas.openxmlformats.org/drawingml/2006/main">
            <a:pPr>
              <a:defRPr sz="1950" b="0">
                <a:solidFill>
                  <a:srgbClr val="243746"/>
                </a:solidFill>
              </a:defRPr>
            </a:pPr>
            <a:r>
              <a:rPr sz="1950" b="0">
                <a:solidFill>
                  <a:srgbClr val="243746"/>
                </a:solidFill>
              </a:rPr>
              <a:t>Recall 26,04%</a:t>
            </a:r>
          </a:p>
        </p:txBody>
      </p:sp>
    </p:spTree>
    <p:extLst>
      <p:ext uri="{BB962C8B-B14F-4D97-AF65-F5344CB8AC3E}">
        <p14:creationId xmlns:p14="http://schemas.microsoft.com/office/powerpoint/2010/main" val="12910957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8D265-F446-49BF-BB33-04C2D5DF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Limitaciones de la evaluación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1EDB1-E18A-4EEE-ABFF-F0A4C8F6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14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7C239-9B13-4119-83DB-B9330198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Memoria, limitaciones y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92F48-051B-4236-A5F4-250BB1EC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Diseño retrospectivo, snapshots y cierre operativo inciertos.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06349-501D-4A4C-ACF7-F4468CA7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Exposición previa parcial de prueba y validación reutilizada.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4ACE-F985-42C5-A3F7-C2CEEF6D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Scores sin calibración acreditada y variación mensual.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B3B2D-77F1-4CF4-91AA-9DA5ECD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43746"/>
                </a:solidFill>
              </a:defRPr>
            </a:defPPr>
            <a:lvl1pPr>
              <a:defRPr sz="2025" b="0">
                <a:solidFill>
                  <a:srgbClr val="243746"/>
                </a:solidFill>
              </a:defRPr>
            </a:lvl1pPr>
            <a:lvl2pPr>
              <a:defRPr sz="2025" b="0">
                <a:solidFill>
                  <a:srgbClr val="243746"/>
                </a:solidFill>
              </a:defRPr>
            </a:lvl2pPr>
            <a:lvl3pPr>
              <a:defRPr sz="2025" b="0">
                <a:solidFill>
                  <a:srgbClr val="243746"/>
                </a:solidFill>
              </a:defRPr>
            </a:lvl3pPr>
            <a:lvl4pPr>
              <a:defRPr sz="2025" b="0">
                <a:solidFill>
                  <a:srgbClr val="243746"/>
                </a:solidFill>
              </a:defRPr>
            </a:lvl4pPr>
            <a:lvl5pPr>
              <a:defRPr sz="2025" b="0">
                <a:solidFill>
                  <a:srgbClr val="243746"/>
                </a:solidFill>
              </a:defRPr>
            </a:lvl5pPr>
            <a:lvl6pPr>
              <a:defRPr sz="2025" b="0">
                <a:solidFill>
                  <a:srgbClr val="243746"/>
                </a:solidFill>
              </a:defRPr>
            </a:lvl6pPr>
            <a:lvl7pPr>
              <a:defRPr sz="2025" b="0">
                <a:solidFill>
                  <a:srgbClr val="243746"/>
                </a:solidFill>
              </a:defRPr>
            </a:lvl7pPr>
            <a:lvl8pPr>
              <a:defRPr sz="2025" b="0">
                <a:solidFill>
                  <a:srgbClr val="243746"/>
                </a:solidFill>
              </a:defRPr>
            </a:lvl8pPr>
            <a:lvl9pPr>
              <a:defRPr sz="20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746"/>
                </a:solidFill>
              </a:defRPr>
            </a:pPr>
            <a:r>
              <a:rPr sz="2025" b="0">
                <a:solidFill>
                  <a:srgbClr val="243746"/>
                </a:solidFill>
              </a:rPr>
              <a:t>Sin costes reales ni efecto del seguimiento evaluado.</a:t>
            </a:r>
          </a:p>
        </p:txBody>
      </p:sp>
    </p:spTree>
    <p:extLst>
      <p:ext uri="{BB962C8B-B14F-4D97-AF65-F5344CB8AC3E}">
        <p14:creationId xmlns:p14="http://schemas.microsoft.com/office/powerpoint/2010/main" val="17430072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6BCF1-A7E6-49A6-AFCF-296669C5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1095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E58"/>
                </a:solidFill>
              </a:defRPr>
            </a:defPPr>
            <a:lvl1pPr>
              <a:defRPr sz="3150" b="1">
                <a:solidFill>
                  <a:srgbClr val="173E58"/>
                </a:solidFill>
              </a:defRPr>
            </a:lvl1pPr>
            <a:lvl2pPr>
              <a:defRPr sz="3150" b="1">
                <a:solidFill>
                  <a:srgbClr val="173E58"/>
                </a:solidFill>
              </a:defRPr>
            </a:lvl2pPr>
            <a:lvl3pPr>
              <a:defRPr sz="3150" b="1">
                <a:solidFill>
                  <a:srgbClr val="173E58"/>
                </a:solidFill>
              </a:defRPr>
            </a:lvl3pPr>
            <a:lvl4pPr>
              <a:defRPr sz="3150" b="1">
                <a:solidFill>
                  <a:srgbClr val="173E58"/>
                </a:solidFill>
              </a:defRPr>
            </a:lvl4pPr>
            <a:lvl5pPr>
              <a:defRPr sz="3150" b="1">
                <a:solidFill>
                  <a:srgbClr val="173E58"/>
                </a:solidFill>
              </a:defRPr>
            </a:lvl5pPr>
            <a:lvl6pPr>
              <a:defRPr sz="3150" b="1">
                <a:solidFill>
                  <a:srgbClr val="173E58"/>
                </a:solidFill>
              </a:defRPr>
            </a:lvl6pPr>
            <a:lvl7pPr>
              <a:defRPr sz="3150" b="1">
                <a:solidFill>
                  <a:srgbClr val="173E58"/>
                </a:solidFill>
              </a:defRPr>
            </a:lvl7pPr>
            <a:lvl8pPr>
              <a:defRPr sz="3150" b="1">
                <a:solidFill>
                  <a:srgbClr val="173E58"/>
                </a:solidFill>
              </a:defRPr>
            </a:lvl8pPr>
            <a:lvl9pPr>
              <a:defRPr sz="3150" b="1">
                <a:solidFill>
                  <a:srgbClr val="173E58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73E58"/>
                </a:solidFill>
              </a:defRPr>
            </a:pPr>
            <a:r>
              <a:rPr sz="3150" b="1">
                <a:solidFill>
                  <a:srgbClr val="173E58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FE2F2-DE76-4332-85BA-75D777C4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EF7E2-22EF-4452-9879-E04C651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98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27482"/>
                </a:solidFill>
              </a:defRPr>
            </a:defPPr>
            <a:lvl1pPr>
              <a:defRPr sz="1125" b="0">
                <a:solidFill>
                  <a:srgbClr val="627482"/>
                </a:solidFill>
              </a:defRPr>
            </a:lvl1pPr>
            <a:lvl2pPr>
              <a:defRPr sz="1125" b="0">
                <a:solidFill>
                  <a:srgbClr val="627482"/>
                </a:solidFill>
              </a:defRPr>
            </a:lvl2pPr>
            <a:lvl3pPr>
              <a:defRPr sz="1125" b="0">
                <a:solidFill>
                  <a:srgbClr val="627482"/>
                </a:solidFill>
              </a:defRPr>
            </a:lvl3pPr>
            <a:lvl4pPr>
              <a:defRPr sz="1125" b="0">
                <a:solidFill>
                  <a:srgbClr val="627482"/>
                </a:solidFill>
              </a:defRPr>
            </a:lvl4pPr>
            <a:lvl5pPr>
              <a:defRPr sz="1125" b="0">
                <a:solidFill>
                  <a:srgbClr val="627482"/>
                </a:solidFill>
              </a:defRPr>
            </a:lvl5pPr>
            <a:lvl6pPr>
              <a:defRPr sz="1125" b="0">
                <a:solidFill>
                  <a:srgbClr val="627482"/>
                </a:solidFill>
              </a:defRPr>
            </a:lvl6pPr>
            <a:lvl7pPr>
              <a:defRPr sz="1125" b="0">
                <a:solidFill>
                  <a:srgbClr val="627482"/>
                </a:solidFill>
              </a:defRPr>
            </a:lvl7pPr>
            <a:lvl8pPr>
              <a:defRPr sz="1125" b="0">
                <a:solidFill>
                  <a:srgbClr val="627482"/>
                </a:solidFill>
              </a:defRPr>
            </a:lvl8pPr>
            <a:lvl9pPr>
              <a:defRPr sz="1125" b="0">
                <a:solidFill>
                  <a:srgbClr val="627482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482"/>
                </a:solidFill>
              </a:defRPr>
            </a:pPr>
            <a:r>
              <a:rPr sz="1125" b="0">
                <a:solidFill>
                  <a:srgbClr val="627482"/>
                </a:solidFill>
              </a:rPr>
              <a:t>Memoria final y evaluación congelada de fase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2293B-0637-4689-A793-5099CD0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8880"/>
                </a:solidFill>
              </a:defRPr>
            </a:defPPr>
            <a:lvl1pPr>
              <a:defRPr sz="3450" b="1">
                <a:solidFill>
                  <a:srgbClr val="168880"/>
                </a:solidFill>
              </a:defRPr>
            </a:lvl1pPr>
            <a:lvl2pPr>
              <a:defRPr sz="3450" b="1">
                <a:solidFill>
                  <a:srgbClr val="168880"/>
                </a:solidFill>
              </a:defRPr>
            </a:lvl2pPr>
            <a:lvl3pPr>
              <a:defRPr sz="3450" b="1">
                <a:solidFill>
                  <a:srgbClr val="168880"/>
                </a:solidFill>
              </a:defRPr>
            </a:lvl3pPr>
            <a:lvl4pPr>
              <a:defRPr sz="3450" b="1">
                <a:solidFill>
                  <a:srgbClr val="168880"/>
                </a:solidFill>
              </a:defRPr>
            </a:lvl4pPr>
            <a:lvl5pPr>
              <a:defRPr sz="3450" b="1">
                <a:solidFill>
                  <a:srgbClr val="168880"/>
                </a:solidFill>
              </a:defRPr>
            </a:lvl5pPr>
            <a:lvl6pPr>
              <a:defRPr sz="3450" b="1">
                <a:solidFill>
                  <a:srgbClr val="168880"/>
                </a:solidFill>
              </a:defRPr>
            </a:lvl6pPr>
            <a:lvl7pPr>
              <a:defRPr sz="3450" b="1">
                <a:solidFill>
                  <a:srgbClr val="168880"/>
                </a:solidFill>
              </a:defRPr>
            </a:lvl7pPr>
            <a:lvl8pPr>
              <a:defRPr sz="3450" b="1">
                <a:solidFill>
                  <a:srgbClr val="168880"/>
                </a:solidFill>
              </a:defRPr>
            </a:lvl8pPr>
            <a:lvl9pPr>
              <a:defRPr sz="3450" b="1">
                <a:solidFill>
                  <a:srgbClr val="168880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8880"/>
                </a:solidFill>
              </a:defRPr>
            </a:pPr>
            <a:r>
              <a:rPr sz="3450" b="1">
                <a:solidFill>
                  <a:srgbClr val="168880"/>
                </a:solidFill>
              </a:rPr>
              <a:t>5.340 cancelaciones identificadas</a:t>
            </a:r>
          </a:p>
          <a:p xmlns:a="http://schemas.openxmlformats.org/drawingml/2006/main">
            <a:pPr>
              <a:defRPr sz="3450" b="1">
                <a:solidFill>
                  <a:srgbClr val="168880"/>
                </a:solidFill>
              </a:defRPr>
            </a:pPr>
            <a:r>
              <a:rPr sz="3450" b="1">
                <a:solidFill>
                  <a:srgbClr val="168880"/>
                </a:solidFill>
              </a:rPr>
              <a:t>en 6.564 prioridades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7CC5E1-A47A-4E06-BEFE-3BA53C7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43746"/>
                </a:solidFill>
              </a:defRPr>
            </a:defPPr>
            <a:lvl1pPr>
              <a:defRPr sz="2325" b="0">
                <a:solidFill>
                  <a:srgbClr val="243746"/>
                </a:solidFill>
              </a:defRPr>
            </a:lvl1pPr>
            <a:lvl2pPr>
              <a:defRPr sz="2325" b="0">
                <a:solidFill>
                  <a:srgbClr val="243746"/>
                </a:solidFill>
              </a:defRPr>
            </a:lvl2pPr>
            <a:lvl3pPr>
              <a:defRPr sz="2325" b="0">
                <a:solidFill>
                  <a:srgbClr val="243746"/>
                </a:solidFill>
              </a:defRPr>
            </a:lvl3pPr>
            <a:lvl4pPr>
              <a:defRPr sz="2325" b="0">
                <a:solidFill>
                  <a:srgbClr val="243746"/>
                </a:solidFill>
              </a:defRPr>
            </a:lvl4pPr>
            <a:lvl5pPr>
              <a:defRPr sz="2325" b="0">
                <a:solidFill>
                  <a:srgbClr val="243746"/>
                </a:solidFill>
              </a:defRPr>
            </a:lvl5pPr>
            <a:lvl6pPr>
              <a:defRPr sz="2325" b="0">
                <a:solidFill>
                  <a:srgbClr val="243746"/>
                </a:solidFill>
              </a:defRPr>
            </a:lvl6pPr>
            <a:lvl7pPr>
              <a:defRPr sz="2325" b="0">
                <a:solidFill>
                  <a:srgbClr val="243746"/>
                </a:solidFill>
              </a:defRPr>
            </a:lvl7pPr>
            <a:lvl8pPr>
              <a:defRPr sz="2325" b="0">
                <a:solidFill>
                  <a:srgbClr val="243746"/>
                </a:solidFill>
              </a:defRPr>
            </a:lvl8pPr>
            <a:lvl9pPr>
              <a:defRPr sz="2325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3746"/>
                </a:solidFill>
              </a:defRPr>
            </a:pPr>
            <a:r>
              <a:rPr sz="2325" b="0">
                <a:solidFill>
                  <a:srgbClr val="243746"/>
                </a:solidFill>
              </a:rPr>
              <a:t>Cobertura del 40,65%, con diferencias entre meses y hoteles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8F470-81D6-43E0-96E5-61DEA7EE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746"/>
                </a:solidFill>
              </a:defRPr>
            </a:defPPr>
            <a:lvl1pPr>
              <a:defRPr sz="2100" b="0">
                <a:solidFill>
                  <a:srgbClr val="243746"/>
                </a:solidFill>
              </a:defRPr>
            </a:lvl1pPr>
            <a:lvl2pPr>
              <a:defRPr sz="2100" b="0">
                <a:solidFill>
                  <a:srgbClr val="243746"/>
                </a:solidFill>
              </a:defRPr>
            </a:lvl2pPr>
            <a:lvl3pPr>
              <a:defRPr sz="2100" b="0">
                <a:solidFill>
                  <a:srgbClr val="243746"/>
                </a:solidFill>
              </a:defRPr>
            </a:lvl3pPr>
            <a:lvl4pPr>
              <a:defRPr sz="2100" b="0">
                <a:solidFill>
                  <a:srgbClr val="243746"/>
                </a:solidFill>
              </a:defRPr>
            </a:lvl4pPr>
            <a:lvl5pPr>
              <a:defRPr sz="2100" b="0">
                <a:solidFill>
                  <a:srgbClr val="243746"/>
                </a:solidFill>
              </a:defRPr>
            </a:lvl5pPr>
            <a:lvl6pPr>
              <a:defRPr sz="2100" b="0">
                <a:solidFill>
                  <a:srgbClr val="243746"/>
                </a:solidFill>
              </a:defRPr>
            </a:lvl6pPr>
            <a:lvl7pPr>
              <a:defRPr sz="2100" b="0">
                <a:solidFill>
                  <a:srgbClr val="243746"/>
                </a:solidFill>
              </a:defRPr>
            </a:lvl7pPr>
            <a:lvl8pPr>
              <a:defRPr sz="2100" b="0">
                <a:solidFill>
                  <a:srgbClr val="243746"/>
                </a:solidFill>
              </a:defRPr>
            </a:lvl8pPr>
            <a:lvl9pPr>
              <a:defRPr sz="2100" b="0">
                <a:solidFill>
                  <a:srgbClr val="2437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Nuevos datos trazables y un piloto independiente permitirían</a:t>
            </a:r>
          </a:p>
          <a:p xmlns:a="http://schemas.openxmlformats.org/drawingml/2006/main">
            <a:pPr>
              <a:defRPr sz="2100" b="0">
                <a:solidFill>
                  <a:srgbClr val="243746"/>
                </a:solidFill>
              </a:defRPr>
            </a:pPr>
            <a:r>
              <a:rPr sz="2100" b="0">
                <a:solidFill>
                  <a:srgbClr val="243746"/>
                </a:solidFill>
              </a:rPr>
              <a:t>evaluar viabilidad operativa y consecuencias del seguimiento.</a:t>
            </a:r>
          </a:p>
        </p:txBody>
      </p:sp>
    </p:spTree>
    <p:extLst>
      <p:ext uri="{BB962C8B-B14F-4D97-AF65-F5344CB8AC3E}">
        <p14:creationId xmlns:p14="http://schemas.microsoft.com/office/powerpoint/2010/main" val="1201321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2026-10-18T16:26:18.8170000Z</dcterms:created>
  <dcterms:modified xsi:type="dcterms:W3CDTF">2026-10-18T16:26:18.8170000Z</dcterms:modified>
</coreProperties>
</file>