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1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2.xml" ContentType="application/vnd.openxmlformats-officedocument.drawingml.chart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slides/charts/chart3.xml" ContentType="application/vnd.openxmlformats-officedocument.drawingml.chart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c827f4b8ff64918" /><Relationship Type="http://schemas.openxmlformats.org/officeDocument/2006/relationships/extended-properties" Target="/docProps/app.xml" Id="Rd07e668147d94029" /><Relationship Type="http://schemas.openxmlformats.org/officeDocument/2006/relationships/officeDocument" Target="/ppt/presentation.xml" Id="R1650756cd72e400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27a5ed02c294fd6"/>
  </p:sldMasterIdLst>
  <p:notesMasterIdLst>
    <p:notesMasterId xmlns:r="http://schemas.openxmlformats.org/officeDocument/2006/relationships" r:id="Rdeb15d5db9f04513"/>
  </p:notesMasterIdLst>
  <p:sldIdLst>
    <p:sldId xmlns:r="http://schemas.openxmlformats.org/officeDocument/2006/relationships" id="256" r:id="Ra81d36607b6b434a"/>
    <p:sldId xmlns:r="http://schemas.openxmlformats.org/officeDocument/2006/relationships" id="257" r:id="Ra70baf36e2b244ea"/>
    <p:sldId xmlns:r="http://schemas.openxmlformats.org/officeDocument/2006/relationships" id="258" r:id="Re7e89a7be44e4ff9"/>
    <p:sldId xmlns:r="http://schemas.openxmlformats.org/officeDocument/2006/relationships" id="259" r:id="R677b2e21857e4028"/>
    <p:sldId xmlns:r="http://schemas.openxmlformats.org/officeDocument/2006/relationships" id="260" r:id="R21517ebab5c440b9"/>
    <p:sldId xmlns:r="http://schemas.openxmlformats.org/officeDocument/2006/relationships" id="261" r:id="Rceb716af4a96443e"/>
    <p:sldId xmlns:r="http://schemas.openxmlformats.org/officeDocument/2006/relationships" id="262" r:id="R3dd6973350264289"/>
    <p:sldId xmlns:r="http://schemas.openxmlformats.org/officeDocument/2006/relationships" id="263" r:id="R2d324d80dda0414c"/>
    <p:sldId xmlns:r="http://schemas.openxmlformats.org/officeDocument/2006/relationships" id="264" r:id="Rf2422bd596e14e6f"/>
    <p:sldId xmlns:r="http://schemas.openxmlformats.org/officeDocument/2006/relationships" id="265" r:id="R5e9a7d653cfc4c03"/>
    <p:sldId xmlns:r="http://schemas.openxmlformats.org/officeDocument/2006/relationships" id="266" r:id="Rf53a35d309f04f85"/>
    <p:sldId xmlns:r="http://schemas.openxmlformats.org/officeDocument/2006/relationships" id="267" r:id="Rc473f70d348a41f7"/>
    <p:sldId xmlns:r="http://schemas.openxmlformats.org/officeDocument/2006/relationships" id="268" r:id="R129bf33368f84784"/>
    <p:sldId xmlns:r="http://schemas.openxmlformats.org/officeDocument/2006/relationships" id="269" r:id="Reb8150c2646140f2"/>
    <p:sldId xmlns:r="http://schemas.openxmlformats.org/officeDocument/2006/relationships" id="270" r:id="R7399eae0e54f471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485ab54582c4620" /><Relationship Type="http://schemas.openxmlformats.org/officeDocument/2006/relationships/slideMaster" Target="/ppt/slideMasters/slideMaster1.xml" Id="R127a5ed02c294fd6" /><Relationship Type="http://schemas.openxmlformats.org/officeDocument/2006/relationships/notesMaster" Target="/ppt/notesMasters/notesMaster1.xml" Id="Rdeb15d5db9f04513" /><Relationship Type="http://schemas.openxmlformats.org/officeDocument/2006/relationships/presProps" Target="/ppt/presProps.xml" Id="Re3b6fb549d5041b3" /><Relationship Type="http://schemas.openxmlformats.org/officeDocument/2006/relationships/tableStyles" Target="/ppt/tableStyles.xml" Id="Rfa23410249884e9a" /><Relationship Type="http://schemas.openxmlformats.org/officeDocument/2006/relationships/slide" Target="/ppt/slides/slide1.xml" Id="Ra81d36607b6b434a" /><Relationship Type="http://schemas.openxmlformats.org/officeDocument/2006/relationships/slide" Target="/ppt/slides/slide2.xml" Id="Ra70baf36e2b244ea" /><Relationship Type="http://schemas.openxmlformats.org/officeDocument/2006/relationships/slide" Target="/ppt/slides/slide3.xml" Id="Re7e89a7be44e4ff9" /><Relationship Type="http://schemas.openxmlformats.org/officeDocument/2006/relationships/slide" Target="/ppt/slides/slide4.xml" Id="R677b2e21857e4028" /><Relationship Type="http://schemas.openxmlformats.org/officeDocument/2006/relationships/slide" Target="/ppt/slides/slide5.xml" Id="R21517ebab5c440b9" /><Relationship Type="http://schemas.openxmlformats.org/officeDocument/2006/relationships/slide" Target="/ppt/slides/slide6.xml" Id="Rceb716af4a96443e" /><Relationship Type="http://schemas.openxmlformats.org/officeDocument/2006/relationships/slide" Target="/ppt/slides/slide7.xml" Id="R3dd6973350264289" /><Relationship Type="http://schemas.openxmlformats.org/officeDocument/2006/relationships/slide" Target="/ppt/slides/slide8.xml" Id="R2d324d80dda0414c" /><Relationship Type="http://schemas.openxmlformats.org/officeDocument/2006/relationships/slide" Target="/ppt/slides/slide9.xml" Id="Rf2422bd596e14e6f" /><Relationship Type="http://schemas.openxmlformats.org/officeDocument/2006/relationships/slide" Target="/ppt/slides/slide10.xml" Id="R5e9a7d653cfc4c03" /><Relationship Type="http://schemas.openxmlformats.org/officeDocument/2006/relationships/slide" Target="/ppt/slides/slide11.xml" Id="Rf53a35d309f04f85" /><Relationship Type="http://schemas.openxmlformats.org/officeDocument/2006/relationships/slide" Target="/ppt/slides/slide12.xml" Id="Rc473f70d348a41f7" /><Relationship Type="http://schemas.openxmlformats.org/officeDocument/2006/relationships/slide" Target="/ppt/slides/slide13.xml" Id="R129bf33368f84784" /><Relationship Type="http://schemas.openxmlformats.org/officeDocument/2006/relationships/slide" Target="/ppt/slides/slide14.xml" Id="Reb8150c2646140f2" /><Relationship Type="http://schemas.openxmlformats.org/officeDocument/2006/relationships/slide" Target="/ppt/slides/slide15.xml" Id="R7399eae0e54f471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faa51e185df4cd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b39571bc4ac4457" /><Relationship Type="http://schemas.openxmlformats.org/officeDocument/2006/relationships/notesMaster" Target="/ppt/notesMasters/notesMaster1.xml" Id="R17277bd31bfb4f9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c2fe462c1e141ef" /><Relationship Type="http://schemas.openxmlformats.org/officeDocument/2006/relationships/notesMaster" Target="/ppt/notesMasters/notesMaster1.xml" Id="Raf315964a325446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b2cf1c9119c4f82" /><Relationship Type="http://schemas.openxmlformats.org/officeDocument/2006/relationships/notesMaster" Target="/ppt/notesMasters/notesMaster1.xml" Id="R6b8fc75d48fe4fc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10360403b4e4e73" /><Relationship Type="http://schemas.openxmlformats.org/officeDocument/2006/relationships/notesMaster" Target="/ppt/notesMasters/notesMaster1.xml" Id="R0bf7253b176340d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33424bf08154576" /><Relationship Type="http://schemas.openxmlformats.org/officeDocument/2006/relationships/notesMaster" Target="/ppt/notesMasters/notesMaster1.xml" Id="R0cee5ea40aaf4ad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8c340da792f487a" /><Relationship Type="http://schemas.openxmlformats.org/officeDocument/2006/relationships/notesMaster" Target="/ppt/notesMasters/notesMaster1.xml" Id="R384dcefa38ea499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4efee77cc1d48ef" /><Relationship Type="http://schemas.openxmlformats.org/officeDocument/2006/relationships/notesMaster" Target="/ppt/notesMasters/notesMaster1.xml" Id="Rbec4c2d2ff1b4a1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1177fdd3bd349f4" /><Relationship Type="http://schemas.openxmlformats.org/officeDocument/2006/relationships/notesMaster" Target="/ppt/notesMasters/notesMaster1.xml" Id="R56992e303cfb4fe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449150867e8429f" /><Relationship Type="http://schemas.openxmlformats.org/officeDocument/2006/relationships/notesMaster" Target="/ppt/notesMasters/notesMaster1.xml" Id="R1a8ead55ff46471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b0ac671397a47e0" /><Relationship Type="http://schemas.openxmlformats.org/officeDocument/2006/relationships/notesMaster" Target="/ppt/notesMasters/notesMaster1.xml" Id="R20578789b3bd4dd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169de1377674d0b" /><Relationship Type="http://schemas.openxmlformats.org/officeDocument/2006/relationships/notesMaster" Target="/ppt/notesMasters/notesMaster1.xml" Id="R862ad97ff442409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6eead302a8449e7" /><Relationship Type="http://schemas.openxmlformats.org/officeDocument/2006/relationships/notesMaster" Target="/ppt/notesMasters/notesMaster1.xml" Id="R0a048496c1724ab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c9a628e8a01f4f5a" /><Relationship Type="http://schemas.openxmlformats.org/officeDocument/2006/relationships/notesMaster" Target="/ppt/notesMasters/notesMaster1.xml" Id="Rd0dac2890ed94a59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317c702f1b7e46b3" /><Relationship Type="http://schemas.openxmlformats.org/officeDocument/2006/relationships/notesMaster" Target="/ppt/notesMasters/notesMaster1.xml" Id="R7d8b857487c44269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df2b0e19d1264733" /><Relationship Type="http://schemas.openxmlformats.org/officeDocument/2006/relationships/notesMaster" Target="/ppt/notesMasters/notesMaster1.xml" Id="R992b75972c6b48d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Presentar el objetivo académico: clasificar riesgo y priorizar seguimiento. Aclarar que la autoría académica no se ha confirmado. La evaluación es retrospectiva, no un piloto de intervención.</a:t>
            </a:r>
          </a:p>
          <a:p xmlns:a="http://schemas.openxmlformats.org/drawingml/2006/main">
            <a:r>
              <a:t>Fuente: Memoria final, 18/10/2026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Una reserva puede cancelar y generar incertidumbre de demanda. El seguimiento consume tiempo. Diferenciar capacidad predictiva de eficacia del contacto. No se estiman ahorros ni se recomiendan penalizaciones.</a:t>
            </a:r>
          </a:p>
          <a:p xmlns:a="http://schemas.openxmlformats.org/drawingml/2006/main">
            <a:r>
              <a:t>Fuente: Memoria, introducción y alcance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Describir calidad y asociaciones, construir pipelines sin ajuste global, contrastar algoritmos y cerrar una decisión antes de prueba. El enunciado oficial no se ha localizado.</a:t>
            </a:r>
          </a:p>
          <a:p xmlns:a="http://schemas.openxmlformats.org/drawingml/2006/main">
            <a:r>
              <a:t>Fuente: Informes de fases 1 a 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Archivo local compatible con Hotel Booking Demand, sin cadena de descarga acreditada. La publicación describe 31 variables por hotel y el archivo combinado añade hotel. Conservar duplicados evita asumir errores sin un ID real.</a:t>
            </a:r>
          </a:p>
          <a:p xmlns:a="http://schemas.openxmlformats.org/drawingml/2006/main">
            <a:r>
              <a:t>Fuente: Fases 1 y 2. António et al., 2019, DOI 10.1016/j.dib.2018.11.126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 tasa City supera la de Resort en el archivo completo. Lead time cero tiene 6,78% y mayor a 365 días 67,66%, grupos seleccionados no exhaustivos. No atribuir causalidad. El EDA utilizó todo el archivo y esa exposición se declara.</a:t>
            </a:r>
          </a:p>
          <a:p xmlns:a="http://schemas.openxmlformats.org/drawingml/2006/main">
            <a:r>
              <a:t>Fuente: Fase 2, EDA global. No corresponde a prueba v3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Seis numéricas y ocho categóricas. Numéricas: lead_time, total_nights, adults, children, babies, children_missing. Categóricas: hotel, mes, meal, country, mercado, canal, habitación reservada y tipo de cliente. OHE ignora categorías desconocidas. Solo logística escala.</a:t>
            </a:r>
          </a:p>
          <a:p xmlns:a="http://schemas.openxmlformats.org/drawingml/2006/main">
            <a:r>
              <a:t>Fuente: Fase 3 y especificación congelada de fase 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 excluyen estado final y fecha de estado, además de 12 campos inciertos. V2 seleccionaba por disponibilidad de desenlaces, favoreciendo cancelaciones anticipadas. V3 usa llegada y seguimiento común de bloque. Embargos julio-agosto 2016 y enero-febrero 2017. Train completa un ciclo anual. Cierre de prueba asumido 01/12/2018, sin certificación PMS.</a:t>
            </a:r>
          </a:p>
          <a:p xmlns:a="http://schemas.openxmlformats.org/drawingml/2006/main">
            <a:r>
              <a:t>Fuente: Fases 3, 7.1 y manifiesto v3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Comparación v2: logística, árbol profundidad 8, bosque 200 árboles, XGBoost 300 y LightGBM 300. La búsqueda v2 tuvo 54 ajustes y no mejoró evaluación externa. TreeExplainer sobre 3.000 filas de XGBoost v2 destacó país y antelación. No explica la logística final ni implica causalidad.</a:t>
            </a:r>
          </a:p>
          <a:p xmlns:a="http://schemas.openxmlformats.org/drawingml/2006/main">
            <a:r>
              <a:t>Fuente: Fases 5, 6 y 7. Experimentos históricos v2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Los cinco algoritmos se compararon en v2, una población distinta. En v3 se mantienen los dos iniciales sin optimizar. XGBoost mejora AUC, AP y Brier. Esta diapositiva no compara resultados entre protocolos.</a:t>
            </a:r>
          </a:p>
          <a:p xmlns:a="http://schemas.openxmlformats.org/drawingml/2006/main">
            <a:r>
              <a:t>Fuente: seleccion_8_metricas.csv y seleccion_8_calibracion.csv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igual volumen mensual de 3.980 prioridades, logística identifica 32 TP más. Es una ventaja pequeña, descriptiva, sin prueba de superioridad estadística. A 30% gana XGBoost. Se valora también menor complejidad. La capacidad 20% se fijó como supuesto antes del análisis, sin escogerla para favorecer un modelo.</a:t>
            </a:r>
          </a:p>
          <a:p xmlns:a="http://schemas.openxmlformats.org/drawingml/2006/main">
            <a:r>
              <a:t>Fuente: Fase 8, capacidad mensual del 20% en validación v3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Cada mes reúne ambos hoteles. Se aplica floor del 20% dentro del mes, no del total multimensual. Ante empate exacto: SHA256 UTF-8 de 42|ID ascendente y después ID numérico. Sin redondeo de scores, etiquetas ni cuotas por hotel. Requiere lote completo y revisión humana, sin garantía de evitar cancelaciones.</a:t>
            </a:r>
          </a:p>
          <a:p xmlns:a="http://schemas.openxmlformats.org/drawingml/2006/main">
            <a:r>
              <a:t>Fuente: Especificación congelada de fase 8 y src/decision_policy.py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32.829 reservas, 13.136 cancelaciones, 6.564 prioridades. Matriz TN18469 FP1224 FN7796 TP5340. Una inferencia, scores congelados antes de acceder a objetivos. Comparar con validación sin cambiar el modelo ni política. Precision baja 4,25 puntos y recall 4,35.</a:t>
            </a:r>
          </a:p>
          <a:p xmlns:a="http://schemas.openxmlformats.org/drawingml/2006/main">
            <a:r>
              <a:t>Fuente: Fase 9, evaluacion_9_metricas.json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Precision mensual: marzo80,38 abril91,70 mayo93,90 junio89,99 julio68,17 agosto58,68%. City prioriza23,73% con precision82,99 y recall45,88. Resort11,81%, precision74,16 y recall26,04. Son cuotas compartidas. Los cambios de temporada y composición no permiten atribuir causalidad ni concluir una tendencia permanente con seis meses.</a:t>
            </a:r>
          </a:p>
          <a:p xmlns:a="http://schemas.openxmlformats.org/drawingml/2006/main">
            <a:r>
              <a:t>Fuente: Fase 9, tablas mensuales y por hotel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Faltan snapshots iniciales y cierre operativo acreditado. Fecha de alta aproximada no observada. Parte de prueba estuvo expuesta bajo v2 y al EDA. Validación reutilizada. Scores no calibrados, promedio35,21% frente40,01% observado. Intervalos por bloques descriptivos, sin cobertura garantizada. Sin costes, eficacia de intervención ni ID real.</a:t>
            </a:r>
          </a:p>
          <a:p xmlns:a="http://schemas.openxmlformats.org/drawingml/2006/main">
            <a:r>
              <a:t>Fuente: Memoria, limitaciones y fase 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El proyecto integra conocimientos de calidad, pipelines, comparación, búsqueda temporal, SHAP y evaluación. En prueba cubre40,65% de cancelaciones al20% de capacidad y deja7796 sin prioridad. Conservar decisiones congeladas. Trabajo futuro: nuevas reservas con trazabilidad, evaluación externa y piloto humano. Confirmar autoría y rúbrica del profesor antes de entregar.</a:t>
            </a:r>
          </a:p>
          <a:p xmlns:a="http://schemas.openxmlformats.org/drawingml/2006/main">
            <a:r>
              <a:t>Fuente: Memoria final y evaluación congelada de fase 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c11e5dbba654e49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744fa927d044f63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a93fb3155c3440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ff1caf651464068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16ac2cd421948a3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c4d0ff075f742b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DD687D6-88FA-4579-B940-7B9AA3695DB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952FC591-A046-4724-A179-0A78170FE78D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D4BAEBD8-5BFC-4C23-BAC3-96C4F22EACB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EF01D2A-7E25-4730-99BE-EFF08C7579A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3A6686CD-D643-434C-A9A2-C722E6454D9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FF3A868F-5AB2-45CD-A996-41773E79100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0004225-F395-446F-B89B-D7F5B468014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D7F6596F-60EC-47D1-B6E5-732D94CF45F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90A653B-22CA-4FB3-9320-C66A5B40C4B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3E93FB4-F029-4D7A-B1ED-90CD06E5AB7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67f7ba081ab4c4a" /><Relationship Type="http://schemas.openxmlformats.org/officeDocument/2006/relationships/slideLayout" Target="/ppt/slideLayouts/slideLayout1.xml" Id="R146e648b56414dd8" /><Relationship Type="http://schemas.openxmlformats.org/officeDocument/2006/relationships/slideLayout" Target="/ppt/slideLayouts/slideLayout2.xml" Id="Rd86942598ff641ee" /><Relationship Type="http://schemas.openxmlformats.org/officeDocument/2006/relationships/slideLayout" Target="/ppt/slideLayouts/slideLayout3.xml" Id="R1e96d29edbd542ed" /><Relationship Type="http://schemas.openxmlformats.org/officeDocument/2006/relationships/slideLayout" Target="/ppt/slideLayouts/slideLayout4.xml" Id="R711f72d17ace4fc7" /><Relationship Type="http://schemas.openxmlformats.org/officeDocument/2006/relationships/slideLayout" Target="/ppt/slideLayouts/slideLayout5.xml" Id="Rb1b609113b144676" /><Relationship Type="http://schemas.openxmlformats.org/officeDocument/2006/relationships/slideLayout" Target="/ppt/slideLayouts/slideLayout6.xml" Id="R40edec428d77438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46e648b56414dd8"/>
    <p:sldLayoutId xmlns:r="http://schemas.openxmlformats.org/officeDocument/2006/relationships" id="2147483650" r:id="Rd86942598ff641ee"/>
    <p:sldLayoutId xmlns:r="http://schemas.openxmlformats.org/officeDocument/2006/relationships" id="2147483651" r:id="R1e96d29edbd542ed"/>
    <p:sldLayoutId xmlns:r="http://schemas.openxmlformats.org/officeDocument/2006/relationships" id="2147483652" r:id="R711f72d17ace4fc7"/>
    <p:sldLayoutId xmlns:r="http://schemas.openxmlformats.org/officeDocument/2006/relationships" id="2147483653" r:id="Rb1b609113b144676"/>
    <p:sldLayoutId xmlns:r="http://schemas.openxmlformats.org/officeDocument/2006/relationships" id="2147483654" r:id="R40edec428d77438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6c0793f429945a7" /><Relationship Type="http://schemas.openxmlformats.org/officeDocument/2006/relationships/notesSlide" Target="/ppt/notesSlides/notesSlide1.xml" Id="R0326823c0a45462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964743f25204957" /><Relationship Type="http://schemas.openxmlformats.org/officeDocument/2006/relationships/notesSlide" Target="/ppt/notesSlides/notesSlide2.xml" Id="Ra46a1617f412420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3ce1ba490cd4a4d" /><Relationship Type="http://schemas.openxmlformats.org/officeDocument/2006/relationships/notesSlide" Target="/ppt/notesSlides/notesSlide3.xml" Id="Rfab1e7fe13e448c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b98fd6f368b472d" /><Relationship Type="http://schemas.openxmlformats.org/officeDocument/2006/relationships/notesSlide" Target="/ppt/notesSlides/notesSlide4.xml" Id="Rcbdc563553da4ce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f1d070eeee04de1" /><Relationship Type="http://schemas.openxmlformats.org/officeDocument/2006/relationships/chart" Target="/ppt/slides/charts/chart1.xml" Id="Re1693d62e50b42c2" /><Relationship Type="http://schemas.openxmlformats.org/officeDocument/2006/relationships/notesSlide" Target="/ppt/notesSlides/notesSlide5.xml" Id="R267937172a4b451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bb696cf862d4d53" /><Relationship Type="http://schemas.openxmlformats.org/officeDocument/2006/relationships/notesSlide" Target="/ppt/notesSlides/notesSlide6.xml" Id="Rd1743352135c402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062428b077645ed" /><Relationship Type="http://schemas.openxmlformats.org/officeDocument/2006/relationships/notesSlide" Target="/ppt/notesSlides/notesSlide7.xml" Id="Rf16d28ae78384ec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9a655f5af8c43bf" /><Relationship Type="http://schemas.openxmlformats.org/officeDocument/2006/relationships/notesSlide" Target="/ppt/notesSlides/notesSlide8.xml" Id="R151bb68f997a488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6c7ec6cf9da4b2e" /><Relationship Type="http://schemas.openxmlformats.org/officeDocument/2006/relationships/chart" Target="/ppt/slides/charts/chart2.xml" Id="R2040dc7c4b9448fd" /><Relationship Type="http://schemas.openxmlformats.org/officeDocument/2006/relationships/notesSlide" Target="/ppt/notesSlides/notesSlide9.xml" Id="R2a11ddb0d362491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1205e9bb5364923" /><Relationship Type="http://schemas.openxmlformats.org/officeDocument/2006/relationships/notesSlide" Target="/ppt/notesSlides/notesSlide10.xml" Id="R318b904876aa4cc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4dc2d886c8548ba" /><Relationship Type="http://schemas.openxmlformats.org/officeDocument/2006/relationships/notesSlide" Target="/ppt/notesSlides/notesSlide11.xml" Id="Ra555c380b78f459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bd62a067f4e4580" /><Relationship Type="http://schemas.openxmlformats.org/officeDocument/2006/relationships/notesSlide" Target="/ppt/notesSlides/notesSlide12.xml" Id="R82596f72b1fb4fb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28da3e563704f07" /><Relationship Type="http://schemas.openxmlformats.org/officeDocument/2006/relationships/chart" Target="/ppt/slides/charts/chart3.xml" Id="Rfb89451c92944680" /><Relationship Type="http://schemas.openxmlformats.org/officeDocument/2006/relationships/notesSlide" Target="/ppt/notesSlides/notesSlide13.xml" Id="R518b172e78dd4aaa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59929b2b3ad447a" /><Relationship Type="http://schemas.openxmlformats.org/officeDocument/2006/relationships/notesSlide" Target="/ppt/notesSlides/notesSlide14.xml" Id="Reb9b005341f34b82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c38c5a973794501" /><Relationship Type="http://schemas.openxmlformats.org/officeDocument/2006/relationships/notesSlide" Target="/ppt/notesSlides/notesSlide15.xml" Id="R5a8a3f0f454241af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725">
                <a:latin typeface="Arial"/>
                <a:ea typeface="Arial"/>
                <a:cs typeface="Arial"/>
              </a:rPr>
              <a:t>Cancelación por hotel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725">
              <a:latin typeface="Arial"/>
              <a:ea typeface="Arial"/>
              <a:cs typeface="Arial"/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Tasa de cancelación</c:v>
          </c:tx>
          <c:spPr>
            <a:solidFill xmlns:a="http://schemas.openxmlformats.org/drawingml/2006/main">
              <a:srgbClr val="173E58"/>
            </a:solidFill>
          </c:spPr>
          <c:invertIfNegative val="0"/>
          <c:cat>
            <c:strRef>
              <c:f>'Chart Data'!$A$2:$A$3</c:f>
              <c:strCache>
                <c:ptCount val="2"/>
                <c:pt idx="0">
                  <c:v>City Hotel</c:v>
                </c:pt>
                <c:pt idx="1">
                  <c:v>Resort Hotel</c:v>
                </c:pt>
              </c:strCache>
            </c:strRef>
          </c:cat>
          <c:val>
            <c:numRef>
              <c:f>'Chart Data'!$B$2:$B$3</c:f>
              <c:numCache>
                <c:formatCode>0%</c:formatCode>
                <c:ptCount val="2"/>
                <c:pt idx="0">
                  <c:v>0.41727</c:v>
                </c:pt>
                <c:pt idx="1">
                  <c:v>0.277634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1"/>
          <c:min val="0"/>
        </c:scaling>
        <c:delete val="0"/>
        <c:axPos val="l"/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0.2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725">
                <a:latin typeface="Arial"/>
                <a:ea typeface="Arial"/>
                <a:cs typeface="Arial"/>
              </a:rPr>
              <a:t>Discriminación global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725">
              <a:latin typeface="Arial"/>
              <a:ea typeface="Arial"/>
              <a:cs typeface="Arial"/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ROC-AUC</c:v>
          </c:tx>
          <c:spPr>
            <a:solidFill xmlns:a="http://schemas.openxmlformats.org/drawingml/2006/main">
              <a:srgbClr val="173E58"/>
            </a:solidFill>
          </c:spPr>
          <c:invertIfNegative val="0"/>
          <c:cat>
            <c:strRef>
              <c:f>'Chart Data'!$A$2:$A$3</c:f>
              <c:strCache>
                <c:ptCount val="2"/>
                <c:pt idx="0">
                  <c:v>Logística</c:v>
                </c:pt>
                <c:pt idx="1">
                  <c:v>XGBoost</c:v>
                </c:pt>
              </c:strCache>
            </c:strRef>
          </c:cat>
          <c:val>
            <c:numRef>
              <c:f>'Chart Data'!$B$2:$B$3</c:f>
              <c:numCache>
                <c:formatCode>0.0</c:formatCode>
                <c:ptCount val="2"/>
                <c:pt idx="0">
                  <c:v>0.79459</c:v>
                </c:pt>
                <c:pt idx="1">
                  <c:v>0.830592</c:v>
                </c:pt>
              </c:numCache>
            </c:numRef>
          </c:val>
        </c:ser>
        <c:ser>
          <c:idx val="1"/>
          <c:order val="1"/>
          <c:tx>
            <c:v>Average Precision</c:v>
          </c:tx>
          <c:spPr>
            <a:solidFill xmlns:a="http://schemas.openxmlformats.org/drawingml/2006/main">
              <a:srgbClr val="168880"/>
            </a:solidFill>
          </c:spPr>
          <c:invertIfNegative val="0"/>
          <c:cat>
            <c:strRef>
              <c:f>'Chart Data'!$C$2:$C$3</c:f>
              <c:strCache>
                <c:ptCount val="2"/>
                <c:pt idx="0">
                  <c:v>Logística</c:v>
                </c:pt>
                <c:pt idx="1">
                  <c:v>XGBoost</c:v>
                </c:pt>
              </c:strCache>
            </c:strRef>
          </c:cat>
          <c:val>
            <c:numRef>
              <c:f>'Chart Data'!$D$2:$D$3</c:f>
              <c:numCache>
                <c:formatCode>0.0</c:formatCode>
                <c:ptCount val="2"/>
                <c:pt idx="0">
                  <c:v>0.762161</c:v>
                </c:pt>
                <c:pt idx="1">
                  <c:v>0.790062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1"/>
          <c:min val="0"/>
        </c:scaling>
        <c:delete val="0"/>
        <c:axPos val="l"/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0.2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725">
                <a:latin typeface="Arial"/>
                <a:ea typeface="Arial"/>
                <a:cs typeface="Arial"/>
              </a:rPr>
              <a:t>Política mensual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725">
              <a:latin typeface="Arial"/>
              <a:ea typeface="Arial"/>
              <a:cs typeface="Arial"/>
            </a:defRPr>
          </a:pPr>
        </a:p>
      </c:txPr>
    </c:title>
    <c:plotArea>
      <c:lineChart>
        <c:grouping val="standard"/>
        <c:varyColors val="0"/>
        <c:ser>
          <c:idx val="0"/>
          <c:order val="0"/>
          <c:tx>
            <c:v>Precision</c:v>
          </c:tx>
          <c:spPr>
            <a:ln xmlns:a="http://schemas.openxmlformats.org/drawingml/2006/main" w="28575">
              <a:solidFill>
                <a:srgbClr val="173E58"/>
              </a:solidFill>
            </a:ln>
          </c:spPr>
          <c:marker>
            <c:symbol val="none"/>
          </c:marker>
          <c:cat>
            <c:strRef>
              <c:f>'Chart Data'!$A$2:$A$7</c:f>
              <c:strCache>
                <c:ptCount val="6"/>
                <c:pt idx="0">
                  <c:v>Mar</c:v>
                </c:pt>
                <c:pt idx="1">
                  <c:v>Abr</c:v>
                </c:pt>
                <c:pt idx="2">
                  <c:v>May</c:v>
                </c:pt>
                <c:pt idx="3">
                  <c:v>Jun</c:v>
                </c:pt>
                <c:pt idx="4">
                  <c:v>Jul</c:v>
                </c:pt>
                <c:pt idx="5">
                  <c:v>Ago</c:v>
                </c:pt>
              </c:strCache>
            </c:strRef>
          </c:cat>
          <c:val>
            <c:numRef>
              <c:f>'Chart Data'!$B$2:$B$7</c:f>
              <c:numCache>
                <c:formatCode>0%</c:formatCode>
                <c:ptCount val="6"/>
                <c:pt idx="0">
                  <c:v>0.803823</c:v>
                </c:pt>
                <c:pt idx="1">
                  <c:v>0.916961</c:v>
                </c:pt>
                <c:pt idx="2">
                  <c:v>0.938986</c:v>
                </c:pt>
                <c:pt idx="3">
                  <c:v>0.899911</c:v>
                </c:pt>
                <c:pt idx="4">
                  <c:v>0.681733</c:v>
                </c:pt>
                <c:pt idx="5">
                  <c:v>0.586802</c:v>
                </c:pt>
              </c:numCache>
            </c:numRef>
          </c:val>
          <c:smooth val="0"/>
        </c:ser>
        <c:ser>
          <c:idx val="1"/>
          <c:order val="1"/>
          <c:tx>
            <c:v>Recall</c:v>
          </c:tx>
          <c:spPr>
            <a:ln xmlns:a="http://schemas.openxmlformats.org/drawingml/2006/main" w="28575">
              <a:solidFill>
                <a:srgbClr val="168880"/>
              </a:solidFill>
            </a:ln>
          </c:spPr>
          <c:marker>
            <c:symbol val="none"/>
          </c:marker>
          <c:cat>
            <c:strRef>
              <c:f>'Chart Data'!$C$2:$C$7</c:f>
              <c:strCache>
                <c:ptCount val="6"/>
                <c:pt idx="0">
                  <c:v>Mar</c:v>
                </c:pt>
                <c:pt idx="1">
                  <c:v>Abr</c:v>
                </c:pt>
                <c:pt idx="2">
                  <c:v>May</c:v>
                </c:pt>
                <c:pt idx="3">
                  <c:v>Jun</c:v>
                </c:pt>
                <c:pt idx="4">
                  <c:v>Jul</c:v>
                </c:pt>
                <c:pt idx="5">
                  <c:v>Ago</c:v>
                </c:pt>
              </c:strCache>
            </c:strRef>
          </c:cat>
          <c:val>
            <c:numRef>
              <c:f>'Chart Data'!$D$2:$D$7</c:f>
              <c:numCache>
                <c:formatCode>0%</c:formatCode>
                <c:ptCount val="6"/>
                <c:pt idx="0">
                  <c:v>0.477871</c:v>
                </c:pt>
                <c:pt idx="1">
                  <c:v>0.421437</c:v>
                </c:pt>
                <c:pt idx="2">
                  <c:v>0.429037</c:v>
                </c:pt>
                <c:pt idx="3">
                  <c:v>0.416564</c:v>
                </c:pt>
                <c:pt idx="4">
                  <c:v>0.364919</c:v>
                </c:pt>
                <c:pt idx="5">
                  <c:v>0.318282</c:v>
                </c:pt>
              </c:numCache>
            </c:numRef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1"/>
          <c:min val="0"/>
        </c:scaling>
        <c:delete val="0"/>
        <c:axPos val="l"/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0.2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E913A9-6B12-4851-9971-72037BB52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19100"/>
            <a:ext cx="10953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3E58"/>
                </a:solidFill>
                <a:latin typeface="Arial"/>
                <a:ea typeface="Arial"/>
                <a:cs typeface="Arial"/>
              </a:rPr>
              <a:t>Predicción de cancelaciones</a:t>
            </a:r>
          </a:p>
          <a:p xmlns:a="http://schemas.openxmlformats.org/drawingml/2006/main">
            <a:pPr>
              <a:defRPr sz="315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3E58"/>
                </a:solidFill>
                <a:latin typeface="Arial"/>
                <a:ea typeface="Arial"/>
                <a:cs typeface="Arial"/>
              </a:rPr>
              <a:t>hoteleras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F147DD-B94B-427F-BDF9-F183C7A72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19850"/>
            <a:ext cx="95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27482"/>
                </a:solidFill>
                <a:latin typeface="Arial"/>
                <a:ea typeface="Arial"/>
                <a:cs typeface="Arial"/>
              </a:rPr>
              <a:t>1 / 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EA969C-DFC9-4CFE-8843-149FEF60A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419850"/>
            <a:ext cx="9906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27482"/>
                </a:solidFill>
                <a:latin typeface="Arial"/>
                <a:ea typeface="Arial"/>
                <a:cs typeface="Arial"/>
              </a:rPr>
              <a:t>Memoria final, 18/10/2026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81CC02-D7B3-4F65-8381-F7F15DB9A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62250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168880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68880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68880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68880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68880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68880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68880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68880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68880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688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68880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68880"/>
                </a:solidFill>
                <a:latin typeface="Arial"/>
                <a:ea typeface="Arial"/>
                <a:cs typeface="Arial"/>
              </a:rPr>
              <a:t>Curso de Data Science y Machine Learning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F8A65E-9659-4271-8511-A48E8B6A8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14750"/>
            <a:ext cx="1047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43746"/>
                </a:solidFill>
                <a:latin typeface="Arial"/>
                <a:ea typeface="Arial"/>
                <a:cs typeface="Arial"/>
              </a:rPr>
              <a:t>Modelo y política congelados antes de la evaluación final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83CD01-EAA3-443B-A3B1-9881732E0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62500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43746"/>
                </a:solidFill>
                <a:latin typeface="Arial"/>
                <a:ea typeface="Arial"/>
                <a:cs typeface="Arial"/>
              </a:rPr>
              <a:t>Protocolo v3 · Llegadas de 2015 a 2017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8E713F-C098-4B7F-9EED-DAEAED3D7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0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27482"/>
                </a:solidFill>
                <a:latin typeface="Arial"/>
                <a:ea typeface="Arial"/>
                <a:cs typeface="Arial"/>
              </a:rPr>
              <a:t>Autoría académica sin confirmar</a:t>
            </a:r>
          </a:p>
        </p:txBody>
      </p:sp>
    </p:spTree>
    <p:extLst>
      <p:ext uri="{BB962C8B-B14F-4D97-AF65-F5344CB8AC3E}">
        <p14:creationId xmlns:p14="http://schemas.microsoft.com/office/powerpoint/2010/main" val="51879802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077298-461A-4B63-B8EB-A24274430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19100"/>
            <a:ext cx="10953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3E58"/>
                </a:solidFill>
                <a:latin typeface="Arial"/>
                <a:ea typeface="Arial"/>
                <a:cs typeface="Arial"/>
              </a:rPr>
              <a:t>Problema de negocio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E0023D-DE31-4C9E-B014-55621974F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19850"/>
            <a:ext cx="95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27482"/>
                </a:solidFill>
                <a:latin typeface="Arial"/>
                <a:ea typeface="Arial"/>
                <a:cs typeface="Arial"/>
              </a:rPr>
              <a:t>2 / 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5E00B7-FAF2-4BD0-A8B7-B8E3D149A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419850"/>
            <a:ext cx="9906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27482"/>
                </a:solidFill>
                <a:latin typeface="Arial"/>
                <a:ea typeface="Arial"/>
                <a:cs typeface="Arial"/>
              </a:rPr>
              <a:t>Memoria, introducción y alcance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EB4ABB-BF41-4445-BD07-8597248A9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24000"/>
            <a:ext cx="10763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43746"/>
                </a:solidFill>
                <a:latin typeface="Arial"/>
                <a:ea typeface="Arial"/>
                <a:cs typeface="Arial"/>
              </a:rPr>
              <a:t>Las cancelaciones introducen incertidumbre en la demanda.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C6FEDF-CAB4-4556-B17E-02A0D6588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76500"/>
            <a:ext cx="10763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43746"/>
                </a:solidFill>
                <a:latin typeface="Arial"/>
                <a:ea typeface="Arial"/>
                <a:cs typeface="Arial"/>
              </a:rPr>
              <a:t>Una capacidad limitada exige priorizar revisiones humanas.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25D57B-8DAA-42EA-BBFC-1BEBB8FB7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29000"/>
            <a:ext cx="10763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43746"/>
                </a:solidFill>
                <a:latin typeface="Arial"/>
                <a:ea typeface="Arial"/>
                <a:cs typeface="Arial"/>
              </a:rPr>
              <a:t>El estudio evalúa la detección, sin medir el efecto de intervenir.</a:t>
            </a:r>
          </a:p>
        </p:txBody>
      </p:sp>
    </p:spTree>
    <p:extLst>
      <p:ext uri="{BB962C8B-B14F-4D97-AF65-F5344CB8AC3E}">
        <p14:creationId xmlns:p14="http://schemas.microsoft.com/office/powerpoint/2010/main" val="188647550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96E16B-CE7E-49DF-BB7A-3B41071C1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19100"/>
            <a:ext cx="10953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3E58"/>
                </a:solidFill>
                <a:latin typeface="Arial"/>
                <a:ea typeface="Arial"/>
                <a:cs typeface="Arial"/>
              </a:rPr>
              <a:t>Objetivos del proyecto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CEA062-E91C-4939-A49C-26DBB6889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19850"/>
            <a:ext cx="95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27482"/>
                </a:solidFill>
                <a:latin typeface="Arial"/>
                <a:ea typeface="Arial"/>
                <a:cs typeface="Arial"/>
              </a:rPr>
              <a:t>3 / 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A28363-5AF6-48AD-8285-51E3C232A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419850"/>
            <a:ext cx="9906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27482"/>
                </a:solidFill>
                <a:latin typeface="Arial"/>
                <a:ea typeface="Arial"/>
                <a:cs typeface="Arial"/>
              </a:rPr>
              <a:t>Informes de fases 1 a 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A3C456-D524-4547-98AD-9A4F69F91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24000"/>
            <a:ext cx="10763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43746"/>
                </a:solidFill>
                <a:latin typeface="Arial"/>
                <a:ea typeface="Arial"/>
                <a:cs typeface="Arial"/>
              </a:rPr>
              <a:t>Preparar datos y separar predictores, etiquetas y metadatos.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331587-E7D6-48C1-8BAE-6A6A082A6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76500"/>
            <a:ext cx="10763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43746"/>
                </a:solidFill>
                <a:latin typeface="Arial"/>
                <a:ea typeface="Arial"/>
                <a:cs typeface="Arial"/>
              </a:rPr>
              <a:t>Comparar clasificadores con una estrategia temporal explícita.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ED0F1C-97E2-44B6-80E4-CACEB282B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29000"/>
            <a:ext cx="10763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43746"/>
                </a:solidFill>
                <a:latin typeface="Arial"/>
                <a:ea typeface="Arial"/>
                <a:cs typeface="Arial"/>
              </a:rPr>
              <a:t>Evaluar una política congelada y documentar sus límites.</a:t>
            </a:r>
          </a:p>
        </p:txBody>
      </p:sp>
    </p:spTree>
    <p:extLst>
      <p:ext uri="{BB962C8B-B14F-4D97-AF65-F5344CB8AC3E}">
        <p14:creationId xmlns:p14="http://schemas.microsoft.com/office/powerpoint/2010/main" val="176935553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0D989D-912C-4EEC-A5CB-AFBDC32C2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19100"/>
            <a:ext cx="10953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3E58"/>
                </a:solidFill>
                <a:latin typeface="Arial"/>
                <a:ea typeface="Arial"/>
                <a:cs typeface="Arial"/>
              </a:rPr>
              <a:t>Dataset y calidad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6AFAE7-C9E3-47D0-B49A-0CB5C0B04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19850"/>
            <a:ext cx="95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27482"/>
                </a:solidFill>
                <a:latin typeface="Arial"/>
                <a:ea typeface="Arial"/>
                <a:cs typeface="Arial"/>
              </a:rPr>
              <a:t>4 / 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63A75D-F15A-47E5-97AB-9D8E2BC94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419850"/>
            <a:ext cx="9906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27482"/>
                </a:solidFill>
                <a:latin typeface="Arial"/>
                <a:ea typeface="Arial"/>
                <a:cs typeface="Arial"/>
              </a:rPr>
              <a:t>Fases 1 y 2. António et al., 2019, DOI 10.1016/j.dib.2018.11.126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CC0D77-65D8-4893-AB0C-06A41E3CDD57}"/>
              </a:ext>
            </a:extLst>
          </p:cNvPr>
          <p:cNvGraphicFramePr/>
          <p:nvPr/>
        </p:nvGraphicFramePr>
        <p:xfrm>
          <a:off xmlns:a="http://schemas.openxmlformats.org/drawingml/2006/main" x="666750" y="1428750"/>
          <a:ext xmlns:a="http://schemas.openxmlformats.org/drawingml/2006/main" cx="10858500" cy="3714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429250"/>
                <a:gridCol w="5429250"/>
              </a:tblGrid>
              <a:tr h="7429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73E58"/>
                          </a:solidFill>
                          <a:latin typeface="Arial"/>
                          <a:ea typeface="Arial"/>
                          <a:cs typeface="Arial"/>
                        </a:rPr>
                        <a:t>Archivo completo</a:t>
                      </a:r>
                    </a:p>
                  </a:txBody>
                  <a:tcPr marL="114300" marR="114300" marT="114300" marB="114300">
                    <a:lnL w="4763">
                      <a:solidFill>
                        <a:srgbClr val="D7DFE3"/>
                      </a:solidFill>
                      <a:prstDash val="solid"/>
                    </a:lnL>
                    <a:lnR w="4763">
                      <a:solidFill>
                        <a:srgbClr val="D7DFE3"/>
                      </a:solidFill>
                      <a:prstDash val="solid"/>
                    </a:lnR>
                    <a:lnT w="4763">
                      <a:solidFill>
                        <a:srgbClr val="D7DFE3"/>
                      </a:solidFill>
                      <a:prstDash val="solid"/>
                    </a:lnT>
                    <a:lnB w="4763">
                      <a:solidFill>
                        <a:srgbClr val="D7DFE3"/>
                      </a:solidFill>
                      <a:prstDash val="solid"/>
                    </a:lnB>
                    <a:solidFill>
                      <a:srgbClr val="E4EF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73E58"/>
                          </a:solidFill>
                          <a:latin typeface="Arial"/>
                          <a:ea typeface="Arial"/>
                          <a:cs typeface="Arial"/>
                        </a:rPr>
                        <a:t>Magnitud</a:t>
                      </a:r>
                    </a:p>
                  </a:txBody>
                  <a:tcPr marL="114300" marR="114300" marT="114300" marB="114300">
                    <a:lnR w="4763">
                      <a:solidFill>
                        <a:srgbClr val="D7DFE3"/>
                      </a:solidFill>
                      <a:prstDash val="solid"/>
                    </a:lnR>
                    <a:lnT w="4763">
                      <a:solidFill>
                        <a:srgbClr val="D7DFE3"/>
                      </a:solidFill>
                      <a:prstDash val="solid"/>
                    </a:lnT>
                    <a:lnB w="4763">
                      <a:solidFill>
                        <a:srgbClr val="D7DFE3"/>
                      </a:solidFill>
                      <a:prstDash val="solid"/>
                    </a:lnB>
                    <a:solidFill>
                      <a:srgbClr val="E4EFF2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Reservas / columnas</a:t>
                      </a:r>
                    </a:p>
                  </a:txBody>
                  <a:tcPr marL="114300" marR="114300" marT="114300" marB="114300">
                    <a:lnL w="4763">
                      <a:solidFill>
                        <a:srgbClr val="D7DFE3"/>
                      </a:solidFill>
                      <a:prstDash val="solid"/>
                    </a:lnL>
                    <a:lnR w="4763">
                      <a:solidFill>
                        <a:srgbClr val="D7DFE3"/>
                      </a:solidFill>
                      <a:prstDash val="solid"/>
                    </a:lnR>
                    <a:lnB w="4763">
                      <a:solidFill>
                        <a:srgbClr val="D7DF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119.390 / 32</a:t>
                      </a:r>
                    </a:p>
                  </a:txBody>
                  <a:tcPr marL="114300" marR="114300" marT="114300" marB="114300">
                    <a:lnR w="4763">
                      <a:solidFill>
                        <a:srgbClr val="D7DFE3"/>
                      </a:solidFill>
                      <a:prstDash val="solid"/>
                    </a:lnR>
                    <a:lnB w="4763">
                      <a:solidFill>
                        <a:srgbClr val="D7DF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City / Resort</a:t>
                      </a:r>
                    </a:p>
                  </a:txBody>
                  <a:tcPr marL="114300" marR="114300" marT="114300" marB="114300">
                    <a:lnL w="4763">
                      <a:solidFill>
                        <a:srgbClr val="D7DFE3"/>
                      </a:solidFill>
                      <a:prstDash val="solid"/>
                    </a:lnL>
                    <a:lnR w="4763">
                      <a:solidFill>
                        <a:srgbClr val="D7DFE3"/>
                      </a:solidFill>
                      <a:prstDash val="solid"/>
                    </a:lnR>
                    <a:lnB w="4763">
                      <a:solidFill>
                        <a:srgbClr val="D7DF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79.330 / 40.060</a:t>
                      </a:r>
                    </a:p>
                  </a:txBody>
                  <a:tcPr marL="114300" marR="114300" marT="114300" marB="114300">
                    <a:lnR w="4763">
                      <a:solidFill>
                        <a:srgbClr val="D7DFE3"/>
                      </a:solidFill>
                      <a:prstDash val="solid"/>
                    </a:lnR>
                    <a:lnB w="4763">
                      <a:solidFill>
                        <a:srgbClr val="D7DF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Cancelaciones</a:t>
                      </a:r>
                    </a:p>
                  </a:txBody>
                  <a:tcPr marL="114300" marR="114300" marT="114300" marB="114300">
                    <a:lnL w="4763">
                      <a:solidFill>
                        <a:srgbClr val="D7DFE3"/>
                      </a:solidFill>
                      <a:prstDash val="solid"/>
                    </a:lnL>
                    <a:lnR w="4763">
                      <a:solidFill>
                        <a:srgbClr val="D7DFE3"/>
                      </a:solidFill>
                      <a:prstDash val="solid"/>
                    </a:lnR>
                    <a:lnB w="4763">
                      <a:solidFill>
                        <a:srgbClr val="D7DF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44.224 (37,04%)</a:t>
                      </a:r>
                    </a:p>
                  </a:txBody>
                  <a:tcPr marL="114300" marR="114300" marT="114300" marB="114300">
                    <a:lnR w="4763">
                      <a:solidFill>
                        <a:srgbClr val="D7DFE3"/>
                      </a:solidFill>
                      <a:prstDash val="solid"/>
                    </a:lnR>
                    <a:lnB w="4763">
                      <a:solidFill>
                        <a:srgbClr val="D7DF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Duplicados adicionales</a:t>
                      </a:r>
                    </a:p>
                  </a:txBody>
                  <a:tcPr marL="114300" marR="114300" marT="114300" marB="114300">
                    <a:lnL w="4763">
                      <a:solidFill>
                        <a:srgbClr val="D7DFE3"/>
                      </a:solidFill>
                      <a:prstDash val="solid"/>
                    </a:lnL>
                    <a:lnR w="4763">
                      <a:solidFill>
                        <a:srgbClr val="D7DFE3"/>
                      </a:solidFill>
                      <a:prstDash val="solid"/>
                    </a:lnR>
                    <a:lnB w="4763">
                      <a:solidFill>
                        <a:srgbClr val="D7DF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31.994, conservados</a:t>
                      </a:r>
                    </a:p>
                  </a:txBody>
                  <a:tcPr marL="114300" marR="114300" marT="114300" marB="114300">
                    <a:lnR w="4763">
                      <a:solidFill>
                        <a:srgbClr val="D7DFE3"/>
                      </a:solidFill>
                      <a:prstDash val="solid"/>
                    </a:lnR>
                    <a:lnB w="4763">
                      <a:solidFill>
                        <a:srgbClr val="D7DF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AA3AF9-5CD9-4764-A9CF-A728E7925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0"/>
            <a:ext cx="10858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43746"/>
                </a:solidFill>
                <a:latin typeface="Arial"/>
                <a:ea typeface="Arial"/>
                <a:cs typeface="Arial"/>
              </a:rPr>
              <a:t>Llegadas previstas: julio de 2015 a agosto de 2017</a:t>
            </a:r>
          </a:p>
        </p:txBody>
      </p:sp>
    </p:spTree>
    <p:extLst>
      <p:ext uri="{BB962C8B-B14F-4D97-AF65-F5344CB8AC3E}">
        <p14:creationId xmlns:p14="http://schemas.microsoft.com/office/powerpoint/2010/main" val="33116443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C1166F-57C0-4E0E-803F-0D0A83FA7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19100"/>
            <a:ext cx="10953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3E58"/>
                </a:solidFill>
                <a:latin typeface="Arial"/>
                <a:ea typeface="Arial"/>
                <a:cs typeface="Arial"/>
              </a:rPr>
              <a:t>Análisis exploratorio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52EC71-BB08-411D-8BEE-27E31A982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19850"/>
            <a:ext cx="95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27482"/>
                </a:solidFill>
                <a:latin typeface="Arial"/>
                <a:ea typeface="Arial"/>
                <a:cs typeface="Arial"/>
              </a:rPr>
              <a:t>5 / 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433788-F7F5-4CB0-88B7-A9798C2E3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419850"/>
            <a:ext cx="9906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27482"/>
                </a:solidFill>
                <a:latin typeface="Arial"/>
                <a:ea typeface="Arial"/>
                <a:cs typeface="Arial"/>
              </a:rPr>
              <a:t>Fase 2, EDA global. No corresponde a prueba v3</a:t>
            </a:r>
          </a:p>
        </p:txBody>
      </p:sp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32F6C2C7-CC18-4C2B-8442-C1450DC50FD4}"/>
              </a:ext>
            </a:extLst>
          </p:cNvPr>
          <p:cNvGraphicFramePr/>
          <p:nvPr/>
        </p:nvGraphicFramePr>
        <p:xfrm>
          <a:off xmlns:a="http://schemas.openxmlformats.org/drawingml/2006/main" x="666750" y="1381125"/>
          <a:ext xmlns:a="http://schemas.openxmlformats.org/drawingml/2006/main" cx="6477000" cy="4095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1693d62e50b42c2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391BFA-2B76-4F28-B90F-BE3BA57A6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000250"/>
            <a:ext cx="3810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43746"/>
                </a:solidFill>
                <a:latin typeface="Arial"/>
                <a:ea typeface="Arial"/>
                <a:cs typeface="Arial"/>
              </a:rPr>
              <a:t>Antelación cero</a:t>
            </a:r>
          </a:p>
          <a:p xmlns:a="http://schemas.openxmlformats.org/drawingml/2006/main">
            <a:pPr>
              <a:defRPr sz="210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43746"/>
                </a:solidFill>
                <a:latin typeface="Arial"/>
                <a:ea typeface="Arial"/>
                <a:cs typeface="Arial"/>
              </a:rPr>
              <a:t>6,78% canceladas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43746"/>
                </a:solidFill>
                <a:latin typeface="Arial"/>
                <a:ea typeface="Arial"/>
                <a:cs typeface="Arial"/>
              </a:rPr>
              <a:t>Más de 365 días</a:t>
            </a:r>
          </a:p>
          <a:p xmlns:a="http://schemas.openxmlformats.org/drawingml/2006/main">
            <a:pPr>
              <a:defRPr sz="210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43746"/>
                </a:solidFill>
                <a:latin typeface="Arial"/>
                <a:ea typeface="Arial"/>
                <a:cs typeface="Arial"/>
              </a:rPr>
              <a:t>67,66% canceladas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AA9F65-8EC2-442D-83A3-F04410956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15000"/>
            <a:ext cx="1085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68880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168880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168880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168880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168880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168880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168880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168880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168880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1688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6888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68880"/>
                </a:solidFill>
                <a:latin typeface="Arial"/>
                <a:ea typeface="Arial"/>
                <a:cs typeface="Arial"/>
              </a:rPr>
              <a:t>Asociaciones agregadas, sin interpretación causal</a:t>
            </a:r>
          </a:p>
        </p:txBody>
      </p:sp>
    </p:spTree>
    <p:extLst>
      <p:ext uri="{BB962C8B-B14F-4D97-AF65-F5344CB8AC3E}">
        <p14:creationId xmlns:p14="http://schemas.microsoft.com/office/powerpoint/2010/main" val="12534553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53C9EC-CCE9-41C4-A151-1DF1839DB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19100"/>
            <a:ext cx="10953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3E58"/>
                </a:solidFill>
                <a:latin typeface="Arial"/>
                <a:ea typeface="Arial"/>
                <a:cs typeface="Arial"/>
              </a:rPr>
              <a:t>Preparación de datos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CA0149-B1D1-466E-A62D-DD3A26100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19850"/>
            <a:ext cx="95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27482"/>
                </a:solidFill>
                <a:latin typeface="Arial"/>
                <a:ea typeface="Arial"/>
                <a:cs typeface="Arial"/>
              </a:rPr>
              <a:t>6 / 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89F0F7-F481-441D-9FCC-94990EF4D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419850"/>
            <a:ext cx="9906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27482"/>
                </a:solidFill>
                <a:latin typeface="Arial"/>
                <a:ea typeface="Arial"/>
                <a:cs typeface="Arial"/>
              </a:rPr>
              <a:t>Fase 3 y especificación congelada de fase 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D237E6-8942-4328-BC02-E75B253C9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81125"/>
            <a:ext cx="10763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43746"/>
                </a:solidFill>
                <a:latin typeface="Arial"/>
                <a:ea typeface="Arial"/>
                <a:cs typeface="Arial"/>
              </a:rPr>
              <a:t>14 predictores, con etiqueta y metadatos separados.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D953BA-4E6C-4BA0-A3B0-4AA6A5FC3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33625"/>
            <a:ext cx="10763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43746"/>
                </a:solidFill>
                <a:latin typeface="Arial"/>
                <a:ea typeface="Arial"/>
                <a:cs typeface="Arial"/>
              </a:rPr>
              <a:t>Medianas, categorías y escala aprendidas solo en train.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1DCBED-84E1-49ED-B076-24D75EB70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86125"/>
            <a:ext cx="10763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43746"/>
                </a:solidFill>
                <a:latin typeface="Arial"/>
                <a:ea typeface="Arial"/>
                <a:cs typeface="Arial"/>
              </a:rPr>
              <a:t>One-hot con categorías desconocidas ignoradas.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970D66-F0EE-466A-B893-1DE1C1EFD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38625"/>
            <a:ext cx="10763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43746"/>
                </a:solidFill>
                <a:latin typeface="Arial"/>
                <a:ea typeface="Arial"/>
                <a:cs typeface="Arial"/>
              </a:rPr>
              <a:t>119.390 registros conservados y 192 columnas en v3.</a:t>
            </a:r>
          </a:p>
        </p:txBody>
      </p:sp>
    </p:spTree>
    <p:extLst>
      <p:ext uri="{BB962C8B-B14F-4D97-AF65-F5344CB8AC3E}">
        <p14:creationId xmlns:p14="http://schemas.microsoft.com/office/powerpoint/2010/main" val="175487922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4E5518-9A22-4297-BC74-D28248ABE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19100"/>
            <a:ext cx="10953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3E58"/>
                </a:solidFill>
                <a:latin typeface="Arial"/>
                <a:ea typeface="Arial"/>
                <a:cs typeface="Arial"/>
              </a:rPr>
              <a:t>Prevención de leakage y protocolo v3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4E2682-0617-4C61-8319-907BF633B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19850"/>
            <a:ext cx="95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27482"/>
                </a:solidFill>
                <a:latin typeface="Arial"/>
                <a:ea typeface="Arial"/>
                <a:cs typeface="Arial"/>
              </a:rPr>
              <a:t>7 / 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7DBA15-4A9A-42AD-90E3-18D566FD5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419850"/>
            <a:ext cx="9906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27482"/>
                </a:solidFill>
                <a:latin typeface="Arial"/>
                <a:ea typeface="Arial"/>
                <a:cs typeface="Arial"/>
              </a:rPr>
              <a:t>Fases 3, 7.1 y manifiesto v3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E48D41-BFD5-4248-B93C-326841D80650}"/>
              </a:ext>
            </a:extLst>
          </p:cNvPr>
          <p:cNvGraphicFramePr/>
          <p:nvPr/>
        </p:nvGraphicFramePr>
        <p:xfrm>
          <a:off xmlns:a="http://schemas.openxmlformats.org/drawingml/2006/main" x="666750" y="1476375"/>
          <a:ext xmlns:a="http://schemas.openxmlformats.org/drawingml/2006/main" cx="10858500" cy="3714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19500"/>
                <a:gridCol w="3619500"/>
                <a:gridCol w="3619500"/>
              </a:tblGrid>
              <a:tr h="6191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73E58"/>
                          </a:solidFill>
                          <a:latin typeface="Arial"/>
                          <a:ea typeface="Arial"/>
                          <a:cs typeface="Arial"/>
                        </a:rPr>
                        <a:t>Bloque</a:t>
                      </a:r>
                    </a:p>
                  </a:txBody>
                  <a:tcPr marL="114300" marR="114300" marT="114300" marB="114300">
                    <a:lnL w="4763">
                      <a:solidFill>
                        <a:srgbClr val="D7DFE3"/>
                      </a:solidFill>
                      <a:prstDash val="solid"/>
                    </a:lnL>
                    <a:lnR w="4763">
                      <a:solidFill>
                        <a:srgbClr val="D7DFE3"/>
                      </a:solidFill>
                      <a:prstDash val="solid"/>
                    </a:lnR>
                    <a:lnT w="4763">
                      <a:solidFill>
                        <a:srgbClr val="D7DFE3"/>
                      </a:solidFill>
                      <a:prstDash val="solid"/>
                    </a:lnT>
                    <a:lnB w="4763">
                      <a:solidFill>
                        <a:srgbClr val="D7DFE3"/>
                      </a:solidFill>
                      <a:prstDash val="solid"/>
                    </a:lnB>
                    <a:solidFill>
                      <a:srgbClr val="E4EF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73E58"/>
                          </a:solidFill>
                          <a:latin typeface="Arial"/>
                          <a:ea typeface="Arial"/>
                          <a:cs typeface="Arial"/>
                        </a:rPr>
                        <a:t>Llegadas</a:t>
                      </a:r>
                    </a:p>
                  </a:txBody>
                  <a:tcPr marL="114300" marR="114300" marT="114300" marB="114300">
                    <a:lnR w="4763">
                      <a:solidFill>
                        <a:srgbClr val="D7DFE3"/>
                      </a:solidFill>
                      <a:prstDash val="solid"/>
                    </a:lnR>
                    <a:lnT w="4763">
                      <a:solidFill>
                        <a:srgbClr val="D7DFE3"/>
                      </a:solidFill>
                      <a:prstDash val="solid"/>
                    </a:lnT>
                    <a:lnB w="4763">
                      <a:solidFill>
                        <a:srgbClr val="D7DFE3"/>
                      </a:solidFill>
                      <a:prstDash val="solid"/>
                    </a:lnB>
                    <a:solidFill>
                      <a:srgbClr val="E4EF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73E58"/>
                          </a:solidFill>
                          <a:latin typeface="Arial"/>
                          <a:ea typeface="Arial"/>
                          <a:cs typeface="Arial"/>
                        </a:rPr>
                        <a:t>Reservas</a:t>
                      </a:r>
                    </a:p>
                  </a:txBody>
                  <a:tcPr marL="114300" marR="114300" marT="114300" marB="114300">
                    <a:lnR w="4763">
                      <a:solidFill>
                        <a:srgbClr val="D7DFE3"/>
                      </a:solidFill>
                      <a:prstDash val="solid"/>
                    </a:lnR>
                    <a:lnT w="4763">
                      <a:solidFill>
                        <a:srgbClr val="D7DFE3"/>
                      </a:solidFill>
                      <a:prstDash val="solid"/>
                    </a:lnT>
                    <a:lnB w="4763">
                      <a:solidFill>
                        <a:srgbClr val="D7DFE3"/>
                      </a:solidFill>
                      <a:prstDash val="solid"/>
                    </a:lnB>
                    <a:solidFill>
                      <a:srgbClr val="E4EFF2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Train</a:t>
                      </a:r>
                    </a:p>
                  </a:txBody>
                  <a:tcPr marL="114300" marR="114300" marT="114300" marB="114300">
                    <a:lnL w="4763">
                      <a:solidFill>
                        <a:srgbClr val="D7DFE3"/>
                      </a:solidFill>
                      <a:prstDash val="solid"/>
                    </a:lnL>
                    <a:lnR w="4763">
                      <a:solidFill>
                        <a:srgbClr val="D7DFE3"/>
                      </a:solidFill>
                      <a:prstDash val="solid"/>
                    </a:lnR>
                    <a:lnB w="4763">
                      <a:solidFill>
                        <a:srgbClr val="D7DF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Jul 2015 a jun 2016</a:t>
                      </a:r>
                    </a:p>
                  </a:txBody>
                  <a:tcPr marL="114300" marR="114300" marT="114300" marB="114300">
                    <a:lnR w="4763">
                      <a:solidFill>
                        <a:srgbClr val="D7DFE3"/>
                      </a:solidFill>
                      <a:prstDash val="solid"/>
                    </a:lnR>
                    <a:lnB w="4763">
                      <a:solidFill>
                        <a:srgbClr val="D7DF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49.157</a:t>
                      </a:r>
                    </a:p>
                  </a:txBody>
                  <a:tcPr marL="114300" marR="114300" marT="114300" marB="114300">
                    <a:lnR w="4763">
                      <a:solidFill>
                        <a:srgbClr val="D7DFE3"/>
                      </a:solidFill>
                      <a:prstDash val="solid"/>
                    </a:lnR>
                    <a:lnB w="4763">
                      <a:solidFill>
                        <a:srgbClr val="D7DF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Embargo</a:t>
                      </a:r>
                    </a:p>
                  </a:txBody>
                  <a:tcPr marL="114300" marR="114300" marT="114300" marB="114300">
                    <a:lnL w="4763">
                      <a:solidFill>
                        <a:srgbClr val="D7DFE3"/>
                      </a:solidFill>
                      <a:prstDash val="solid"/>
                    </a:lnL>
                    <a:lnR w="4763">
                      <a:solidFill>
                        <a:srgbClr val="D7DFE3"/>
                      </a:solidFill>
                      <a:prstDash val="solid"/>
                    </a:lnR>
                    <a:lnB w="4763">
                      <a:solidFill>
                        <a:srgbClr val="D7DF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Jul a ago 2016</a:t>
                      </a:r>
                    </a:p>
                  </a:txBody>
                  <a:tcPr marL="114300" marR="114300" marT="114300" marB="114300">
                    <a:lnR w="4763">
                      <a:solidFill>
                        <a:srgbClr val="D7DFE3"/>
                      </a:solidFill>
                      <a:prstDash val="solid"/>
                    </a:lnR>
                    <a:lnB w="4763">
                      <a:solidFill>
                        <a:srgbClr val="D7DF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9.635</a:t>
                      </a:r>
                    </a:p>
                  </a:txBody>
                  <a:tcPr marL="114300" marR="114300" marT="114300" marB="114300">
                    <a:lnR w="4763">
                      <a:solidFill>
                        <a:srgbClr val="D7DFE3"/>
                      </a:solidFill>
                      <a:prstDash val="solid"/>
                    </a:lnR>
                    <a:lnB w="4763">
                      <a:solidFill>
                        <a:srgbClr val="D7DF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Validación</a:t>
                      </a:r>
                    </a:p>
                  </a:txBody>
                  <a:tcPr marL="114300" marR="114300" marT="114300" marB="114300">
                    <a:lnL w="4763">
                      <a:solidFill>
                        <a:srgbClr val="D7DFE3"/>
                      </a:solidFill>
                      <a:prstDash val="solid"/>
                    </a:lnL>
                    <a:lnR w="4763">
                      <a:solidFill>
                        <a:srgbClr val="D7DFE3"/>
                      </a:solidFill>
                      <a:prstDash val="solid"/>
                    </a:lnR>
                    <a:lnB w="4763">
                      <a:solidFill>
                        <a:srgbClr val="D7DF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Sep a dic 2016</a:t>
                      </a:r>
                    </a:p>
                  </a:txBody>
                  <a:tcPr marL="114300" marR="114300" marT="114300" marB="114300">
                    <a:lnR w="4763">
                      <a:solidFill>
                        <a:srgbClr val="D7DFE3"/>
                      </a:solidFill>
                      <a:prstDash val="solid"/>
                    </a:lnR>
                    <a:lnB w="4763">
                      <a:solidFill>
                        <a:srgbClr val="D7DF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19.911</a:t>
                      </a:r>
                    </a:p>
                  </a:txBody>
                  <a:tcPr marL="114300" marR="114300" marT="114300" marB="114300">
                    <a:lnR w="4763">
                      <a:solidFill>
                        <a:srgbClr val="D7DFE3"/>
                      </a:solidFill>
                      <a:prstDash val="solid"/>
                    </a:lnR>
                    <a:lnB w="4763">
                      <a:solidFill>
                        <a:srgbClr val="D7DF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Embargo</a:t>
                      </a:r>
                    </a:p>
                  </a:txBody>
                  <a:tcPr marL="114300" marR="114300" marT="114300" marB="114300">
                    <a:lnL w="4763">
                      <a:solidFill>
                        <a:srgbClr val="D7DFE3"/>
                      </a:solidFill>
                      <a:prstDash val="solid"/>
                    </a:lnL>
                    <a:lnR w="4763">
                      <a:solidFill>
                        <a:srgbClr val="D7DFE3"/>
                      </a:solidFill>
                      <a:prstDash val="solid"/>
                    </a:lnR>
                    <a:lnB w="4763">
                      <a:solidFill>
                        <a:srgbClr val="D7DF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Ene a feb 2017</a:t>
                      </a:r>
                    </a:p>
                  </a:txBody>
                  <a:tcPr marL="114300" marR="114300" marT="114300" marB="114300">
                    <a:lnR w="4763">
                      <a:solidFill>
                        <a:srgbClr val="D7DFE3"/>
                      </a:solidFill>
                      <a:prstDash val="solid"/>
                    </a:lnR>
                    <a:lnB w="4763">
                      <a:solidFill>
                        <a:srgbClr val="D7DF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7.858</a:t>
                      </a:r>
                    </a:p>
                  </a:txBody>
                  <a:tcPr marL="114300" marR="114300" marT="114300" marB="114300">
                    <a:lnR w="4763">
                      <a:solidFill>
                        <a:srgbClr val="D7DFE3"/>
                      </a:solidFill>
                      <a:prstDash val="solid"/>
                    </a:lnR>
                    <a:lnB w="4763">
                      <a:solidFill>
                        <a:srgbClr val="D7DF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Prueba</a:t>
                      </a:r>
                    </a:p>
                  </a:txBody>
                  <a:tcPr marL="114300" marR="114300" marT="114300" marB="114300">
                    <a:lnL w="4763">
                      <a:solidFill>
                        <a:srgbClr val="D7DFE3"/>
                      </a:solidFill>
                      <a:prstDash val="solid"/>
                    </a:lnL>
                    <a:lnR w="4763">
                      <a:solidFill>
                        <a:srgbClr val="D7DFE3"/>
                      </a:solidFill>
                      <a:prstDash val="solid"/>
                    </a:lnR>
                    <a:lnB w="4763">
                      <a:solidFill>
                        <a:srgbClr val="D7DF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Mar a ago 2017</a:t>
                      </a:r>
                    </a:p>
                  </a:txBody>
                  <a:tcPr marL="114300" marR="114300" marT="114300" marB="114300">
                    <a:lnR w="4763">
                      <a:solidFill>
                        <a:srgbClr val="D7DFE3"/>
                      </a:solidFill>
                      <a:prstDash val="solid"/>
                    </a:lnR>
                    <a:lnB w="4763">
                      <a:solidFill>
                        <a:srgbClr val="D7DF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32.829</a:t>
                      </a:r>
                    </a:p>
                  </a:txBody>
                  <a:tcPr marL="114300" marR="114300" marT="114300" marB="114300">
                    <a:lnR w="4763">
                      <a:solidFill>
                        <a:srgbClr val="D7DFE3"/>
                      </a:solidFill>
                      <a:prstDash val="solid"/>
                    </a:lnR>
                    <a:lnB w="4763">
                      <a:solidFill>
                        <a:srgbClr val="D7DF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5C23F7-9E2B-4ADE-A7A0-929A01F33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19750"/>
            <a:ext cx="10858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168880"/>
                </a:solidFill>
                <a:latin typeface="Arial"/>
                <a:ea typeface="Arial"/>
                <a:cs typeface="Arial"/>
              </a:defRPr>
            </a:defPPr>
            <a:lvl1pPr>
              <a:defRPr sz="1950" b="0">
                <a:solidFill>
                  <a:srgbClr val="168880"/>
                </a:solidFill>
                <a:latin typeface="Arial"/>
                <a:ea typeface="Arial"/>
                <a:cs typeface="Arial"/>
              </a:defRPr>
            </a:lvl1pPr>
            <a:lvl2pPr>
              <a:defRPr sz="1950" b="0">
                <a:solidFill>
                  <a:srgbClr val="168880"/>
                </a:solidFill>
                <a:latin typeface="Arial"/>
                <a:ea typeface="Arial"/>
                <a:cs typeface="Arial"/>
              </a:defRPr>
            </a:lvl2pPr>
            <a:lvl3pPr>
              <a:defRPr sz="1950" b="0">
                <a:solidFill>
                  <a:srgbClr val="168880"/>
                </a:solidFill>
                <a:latin typeface="Arial"/>
                <a:ea typeface="Arial"/>
                <a:cs typeface="Arial"/>
              </a:defRPr>
            </a:lvl3pPr>
            <a:lvl4pPr>
              <a:defRPr sz="1950" b="0">
                <a:solidFill>
                  <a:srgbClr val="168880"/>
                </a:solidFill>
                <a:latin typeface="Arial"/>
                <a:ea typeface="Arial"/>
                <a:cs typeface="Arial"/>
              </a:defRPr>
            </a:lvl4pPr>
            <a:lvl5pPr>
              <a:defRPr sz="1950" b="0">
                <a:solidFill>
                  <a:srgbClr val="168880"/>
                </a:solidFill>
                <a:latin typeface="Arial"/>
                <a:ea typeface="Arial"/>
                <a:cs typeface="Arial"/>
              </a:defRPr>
            </a:lvl5pPr>
            <a:lvl6pPr>
              <a:defRPr sz="1950" b="0">
                <a:solidFill>
                  <a:srgbClr val="168880"/>
                </a:solidFill>
                <a:latin typeface="Arial"/>
                <a:ea typeface="Arial"/>
                <a:cs typeface="Arial"/>
              </a:defRPr>
            </a:lvl6pPr>
            <a:lvl7pPr>
              <a:defRPr sz="1950" b="0">
                <a:solidFill>
                  <a:srgbClr val="168880"/>
                </a:solidFill>
                <a:latin typeface="Arial"/>
                <a:ea typeface="Arial"/>
                <a:cs typeface="Arial"/>
              </a:defRPr>
            </a:lvl7pPr>
            <a:lvl8pPr>
              <a:defRPr sz="1950" b="0">
                <a:solidFill>
                  <a:srgbClr val="168880"/>
                </a:solidFill>
                <a:latin typeface="Arial"/>
                <a:ea typeface="Arial"/>
                <a:cs typeface="Arial"/>
              </a:defRPr>
            </a:lvl8pPr>
            <a:lvl9pPr>
              <a:defRPr sz="1950" b="0">
                <a:solidFill>
                  <a:srgbClr val="1688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16888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68880"/>
                </a:solidFill>
                <a:latin typeface="Arial"/>
                <a:ea typeface="Arial"/>
                <a:cs typeface="Arial"/>
              </a:rPr>
              <a:t>Cohortes retrospectivas con seguimiento común por bloque</a:t>
            </a:r>
          </a:p>
        </p:txBody>
      </p:sp>
    </p:spTree>
    <p:extLst>
      <p:ext uri="{BB962C8B-B14F-4D97-AF65-F5344CB8AC3E}">
        <p14:creationId xmlns:p14="http://schemas.microsoft.com/office/powerpoint/2010/main" val="24543021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F7C242-6B56-4435-AAA7-A7F1BFB12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19100"/>
            <a:ext cx="10953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3E58"/>
                </a:solidFill>
                <a:latin typeface="Arial"/>
                <a:ea typeface="Arial"/>
                <a:cs typeface="Arial"/>
              </a:rPr>
              <a:t>Algoritmos comparados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816F45-21B3-4C94-9D43-52E42D310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19850"/>
            <a:ext cx="95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27482"/>
                </a:solidFill>
                <a:latin typeface="Arial"/>
                <a:ea typeface="Arial"/>
                <a:cs typeface="Arial"/>
              </a:rPr>
              <a:t>8 / 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8DEAF9-6CD0-45E3-A538-12255343B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419850"/>
            <a:ext cx="9906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27482"/>
                </a:solidFill>
                <a:latin typeface="Arial"/>
                <a:ea typeface="Arial"/>
                <a:cs typeface="Arial"/>
              </a:rPr>
              <a:t>Fases 5, 6 y 7. Experimentos históricos v2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D4A02F-CE5F-4A80-AE21-94858AD97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81125"/>
            <a:ext cx="10763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43746"/>
                </a:solidFill>
                <a:latin typeface="Arial"/>
                <a:ea typeface="Arial"/>
                <a:cs typeface="Arial"/>
              </a:rPr>
              <a:t>Logística, árbol, Random Forest, XGBoost y LightGBM.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A46223-EEFB-4566-A797-93C7137AE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33625"/>
            <a:ext cx="10763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43746"/>
                </a:solidFill>
                <a:latin typeface="Arial"/>
                <a:ea typeface="Arial"/>
                <a:cs typeface="Arial"/>
              </a:rPr>
              <a:t>Optimización temporal histórica sin mejora externa.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34D04E-7ECF-45B6-8A4F-C11FF63E8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86125"/>
            <a:ext cx="10763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43746"/>
                </a:solidFill>
                <a:latin typeface="Arial"/>
                <a:ea typeface="Arial"/>
                <a:cs typeface="Arial"/>
              </a:rPr>
              <a:t>SHAP analizó XGBoost v2: país y antelación destacaron.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FD569F-AF15-4EAF-B69E-13FB3E40C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38625"/>
            <a:ext cx="10763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43746"/>
                </a:solidFill>
                <a:latin typeface="Arial"/>
                <a:ea typeface="Arial"/>
                <a:cs typeface="Arial"/>
              </a:rPr>
              <a:t>En v3 solo se compararon logística y XGBoost iniciales.</a:t>
            </a:r>
          </a:p>
        </p:txBody>
      </p:sp>
    </p:spTree>
    <p:extLst>
      <p:ext uri="{BB962C8B-B14F-4D97-AF65-F5344CB8AC3E}">
        <p14:creationId xmlns:p14="http://schemas.microsoft.com/office/powerpoint/2010/main" val="21535304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397B01-625B-440C-ADD2-36B83A591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19100"/>
            <a:ext cx="10953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3E58"/>
                </a:solidFill>
                <a:latin typeface="Arial"/>
                <a:ea typeface="Arial"/>
                <a:cs typeface="Arial"/>
              </a:rPr>
              <a:t>Resultados de modelado en validación v3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74F685-91A3-4B29-86E7-AC5F85D6D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19850"/>
            <a:ext cx="95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27482"/>
                </a:solidFill>
                <a:latin typeface="Arial"/>
                <a:ea typeface="Arial"/>
                <a:cs typeface="Arial"/>
              </a:rPr>
              <a:t>9 / 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4DC7F0-7BC5-452D-8D9F-6AE5730F0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419850"/>
            <a:ext cx="9906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27482"/>
                </a:solidFill>
                <a:latin typeface="Arial"/>
                <a:ea typeface="Arial"/>
                <a:cs typeface="Arial"/>
              </a:rPr>
              <a:t>seleccion_8_metricas.csv y seleccion_8_calibracion.csv</a:t>
            </a:r>
          </a:p>
        </p:txBody>
      </p:sp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CDD3F416-3678-4F70-BCE1-64DB81FF43B8}"/>
              </a:ext>
            </a:extLst>
          </p:cNvPr>
          <p:cNvGraphicFramePr/>
          <p:nvPr/>
        </p:nvGraphicFramePr>
        <p:xfrm>
          <a:off xmlns:a="http://schemas.openxmlformats.org/drawingml/2006/main" x="666750" y="1428750"/>
          <a:ext xmlns:a="http://schemas.openxmlformats.org/drawingml/2006/main" cx="10858500" cy="4095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040dc7c4b9448fd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37C5E4-E9A1-41CA-91E5-27A64DB65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15000"/>
            <a:ext cx="1085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68880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168880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168880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168880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168880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168880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168880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168880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168880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1688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6888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68880"/>
                </a:solidFill>
                <a:latin typeface="Arial"/>
                <a:ea typeface="Arial"/>
                <a:cs typeface="Arial"/>
              </a:rPr>
              <a:t>XGBoost presenta mejor discriminación global</a:t>
            </a:r>
          </a:p>
        </p:txBody>
      </p:sp>
    </p:spTree>
    <p:extLst>
      <p:ext uri="{BB962C8B-B14F-4D97-AF65-F5344CB8AC3E}">
        <p14:creationId xmlns:p14="http://schemas.microsoft.com/office/powerpoint/2010/main" val="200007882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15B6D1-FE97-488C-B70E-205A8F22A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19100"/>
            <a:ext cx="10953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3E58"/>
                </a:solidFill>
                <a:latin typeface="Arial"/>
                <a:ea typeface="Arial"/>
                <a:cs typeface="Arial"/>
              </a:rPr>
              <a:t>Selección de regresión logística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9763D9-FEC2-4CB6-809A-0DBEF0C1C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19850"/>
            <a:ext cx="95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27482"/>
                </a:solidFill>
                <a:latin typeface="Arial"/>
                <a:ea typeface="Arial"/>
                <a:cs typeface="Arial"/>
              </a:rPr>
              <a:t>10 / 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83244C-B727-4D60-8554-93CD3890E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419850"/>
            <a:ext cx="9906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27482"/>
                </a:solidFill>
                <a:latin typeface="Arial"/>
                <a:ea typeface="Arial"/>
                <a:cs typeface="Arial"/>
              </a:rPr>
              <a:t>Fase 8, capacidad mensual del 20% en validación v3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F1E01A-D418-475F-8E9D-CFC504D6D4D0}"/>
              </a:ext>
            </a:extLst>
          </p:cNvPr>
          <p:cNvGraphicFramePr/>
          <p:nvPr/>
        </p:nvGraphicFramePr>
        <p:xfrm>
          <a:off xmlns:a="http://schemas.openxmlformats.org/drawingml/2006/main" x="666750" y="1714500"/>
          <a:ext xmlns:a="http://schemas.openxmlformats.org/drawingml/2006/main" cx="10858500" cy="2286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14625"/>
                <a:gridCol w="2714625"/>
                <a:gridCol w="2714625"/>
                <a:gridCol w="2714625"/>
              </a:tblGrid>
              <a:tr h="7620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73E58"/>
                          </a:solidFill>
                          <a:latin typeface="Arial"/>
                          <a:ea typeface="Arial"/>
                          <a:cs typeface="Arial"/>
                        </a:rPr>
                        <a:t>Modelo</a:t>
                      </a:r>
                    </a:p>
                  </a:txBody>
                  <a:tcPr marL="114300" marR="114300" marT="114300" marB="114300">
                    <a:lnL w="4763">
                      <a:solidFill>
                        <a:srgbClr val="D7DFE3"/>
                      </a:solidFill>
                      <a:prstDash val="solid"/>
                    </a:lnL>
                    <a:lnR w="4763">
                      <a:solidFill>
                        <a:srgbClr val="D7DFE3"/>
                      </a:solidFill>
                      <a:prstDash val="solid"/>
                    </a:lnR>
                    <a:lnT w="4763">
                      <a:solidFill>
                        <a:srgbClr val="D7DFE3"/>
                      </a:solidFill>
                      <a:prstDash val="solid"/>
                    </a:lnT>
                    <a:lnB w="4763">
                      <a:solidFill>
                        <a:srgbClr val="D7DFE3"/>
                      </a:solidFill>
                      <a:prstDash val="solid"/>
                    </a:lnB>
                    <a:solidFill>
                      <a:srgbClr val="E4EF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73E58"/>
                          </a:solidFill>
                          <a:latin typeface="Arial"/>
                          <a:ea typeface="Arial"/>
                          <a:cs typeface="Arial"/>
                        </a:rPr>
                        <a:t>TP</a:t>
                      </a:r>
                    </a:p>
                  </a:txBody>
                  <a:tcPr marL="114300" marR="114300" marT="114300" marB="114300">
                    <a:lnR w="4763">
                      <a:solidFill>
                        <a:srgbClr val="D7DFE3"/>
                      </a:solidFill>
                      <a:prstDash val="solid"/>
                    </a:lnR>
                    <a:lnT w="4763">
                      <a:solidFill>
                        <a:srgbClr val="D7DFE3"/>
                      </a:solidFill>
                      <a:prstDash val="solid"/>
                    </a:lnT>
                    <a:lnB w="4763">
                      <a:solidFill>
                        <a:srgbClr val="D7DFE3"/>
                      </a:solidFill>
                      <a:prstDash val="solid"/>
                    </a:lnB>
                    <a:solidFill>
                      <a:srgbClr val="E4EF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73E58"/>
                          </a:solidFill>
                          <a:latin typeface="Arial"/>
                          <a:ea typeface="Arial"/>
                          <a:cs typeface="Arial"/>
                        </a:rPr>
                        <a:t>Precision</a:t>
                      </a:r>
                    </a:p>
                  </a:txBody>
                  <a:tcPr marL="114300" marR="114300" marT="114300" marB="114300">
                    <a:lnR w="4763">
                      <a:solidFill>
                        <a:srgbClr val="D7DFE3"/>
                      </a:solidFill>
                      <a:prstDash val="solid"/>
                    </a:lnR>
                    <a:lnT w="4763">
                      <a:solidFill>
                        <a:srgbClr val="D7DFE3"/>
                      </a:solidFill>
                      <a:prstDash val="solid"/>
                    </a:lnT>
                    <a:lnB w="4763">
                      <a:solidFill>
                        <a:srgbClr val="D7DFE3"/>
                      </a:solidFill>
                      <a:prstDash val="solid"/>
                    </a:lnB>
                    <a:solidFill>
                      <a:srgbClr val="E4EF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73E58"/>
                          </a:solidFill>
                          <a:latin typeface="Arial"/>
                          <a:ea typeface="Arial"/>
                          <a:cs typeface="Arial"/>
                        </a:rPr>
                        <a:t>Recall</a:t>
                      </a:r>
                    </a:p>
                  </a:txBody>
                  <a:tcPr marL="114300" marR="114300" marT="114300" marB="114300">
                    <a:lnR w="4763">
                      <a:solidFill>
                        <a:srgbClr val="D7DFE3"/>
                      </a:solidFill>
                      <a:prstDash val="solid"/>
                    </a:lnR>
                    <a:lnT w="4763">
                      <a:solidFill>
                        <a:srgbClr val="D7DFE3"/>
                      </a:solidFill>
                      <a:prstDash val="solid"/>
                    </a:lnT>
                    <a:lnB w="4763">
                      <a:solidFill>
                        <a:srgbClr val="D7DFE3"/>
                      </a:solidFill>
                      <a:prstDash val="solid"/>
                    </a:lnB>
                    <a:solidFill>
                      <a:srgbClr val="E4EFF2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Logística</a:t>
                      </a:r>
                    </a:p>
                  </a:txBody>
                  <a:tcPr marL="114300" marR="114300" marT="114300" marB="114300">
                    <a:lnL w="4763">
                      <a:solidFill>
                        <a:srgbClr val="D7DFE3"/>
                      </a:solidFill>
                      <a:prstDash val="solid"/>
                    </a:lnL>
                    <a:lnR w="4763">
                      <a:solidFill>
                        <a:srgbClr val="D7DFE3"/>
                      </a:solidFill>
                      <a:prstDash val="solid"/>
                    </a:lnR>
                    <a:lnB w="4763">
                      <a:solidFill>
                        <a:srgbClr val="D7DF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3.407</a:t>
                      </a:r>
                    </a:p>
                  </a:txBody>
                  <a:tcPr marL="114300" marR="114300" marT="114300" marB="114300">
                    <a:lnR w="4763">
                      <a:solidFill>
                        <a:srgbClr val="D7DFE3"/>
                      </a:solidFill>
                      <a:prstDash val="solid"/>
                    </a:lnR>
                    <a:lnB w="4763">
                      <a:solidFill>
                        <a:srgbClr val="D7DF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85,60%</a:t>
                      </a:r>
                    </a:p>
                  </a:txBody>
                  <a:tcPr marL="114300" marR="114300" marT="114300" marB="114300">
                    <a:lnR w="4763">
                      <a:solidFill>
                        <a:srgbClr val="D7DFE3"/>
                      </a:solidFill>
                      <a:prstDash val="solid"/>
                    </a:lnR>
                    <a:lnB w="4763">
                      <a:solidFill>
                        <a:srgbClr val="D7DF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45,01%</a:t>
                      </a:r>
                    </a:p>
                  </a:txBody>
                  <a:tcPr marL="114300" marR="114300" marT="114300" marB="114300">
                    <a:lnR w="4763">
                      <a:solidFill>
                        <a:srgbClr val="D7DFE3"/>
                      </a:solidFill>
                      <a:prstDash val="solid"/>
                    </a:lnR>
                    <a:lnB w="4763">
                      <a:solidFill>
                        <a:srgbClr val="D7DF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XGBoost</a:t>
                      </a:r>
                    </a:p>
                  </a:txBody>
                  <a:tcPr marL="114300" marR="114300" marT="114300" marB="114300">
                    <a:lnL w="4763">
                      <a:solidFill>
                        <a:srgbClr val="D7DFE3"/>
                      </a:solidFill>
                      <a:prstDash val="solid"/>
                    </a:lnL>
                    <a:lnR w="4763">
                      <a:solidFill>
                        <a:srgbClr val="D7DFE3"/>
                      </a:solidFill>
                      <a:prstDash val="solid"/>
                    </a:lnR>
                    <a:lnB w="4763">
                      <a:solidFill>
                        <a:srgbClr val="D7DF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3.375</a:t>
                      </a:r>
                    </a:p>
                  </a:txBody>
                  <a:tcPr marL="114300" marR="114300" marT="114300" marB="114300">
                    <a:lnR w="4763">
                      <a:solidFill>
                        <a:srgbClr val="D7DFE3"/>
                      </a:solidFill>
                      <a:prstDash val="solid"/>
                    </a:lnR>
                    <a:lnB w="4763">
                      <a:solidFill>
                        <a:srgbClr val="D7DF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84,80%</a:t>
                      </a:r>
                    </a:p>
                  </a:txBody>
                  <a:tcPr marL="114300" marR="114300" marT="114300" marB="114300">
                    <a:lnR w="4763">
                      <a:solidFill>
                        <a:srgbClr val="D7DFE3"/>
                      </a:solidFill>
                      <a:prstDash val="solid"/>
                    </a:lnR>
                    <a:lnB w="4763">
                      <a:solidFill>
                        <a:srgbClr val="D7DF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44,58%</a:t>
                      </a:r>
                    </a:p>
                  </a:txBody>
                  <a:tcPr marL="114300" marR="114300" marT="114300" marB="114300">
                    <a:lnR w="4763">
                      <a:solidFill>
                        <a:srgbClr val="D7DFE3"/>
                      </a:solidFill>
                      <a:prstDash val="solid"/>
                    </a:lnR>
                    <a:lnB w="4763">
                      <a:solidFill>
                        <a:srgbClr val="D7DF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B80900-8FC8-425B-A826-C7F9BFC60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29125"/>
            <a:ext cx="10858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168880"/>
                </a:solidFill>
                <a:latin typeface="Arial"/>
                <a:ea typeface="Arial"/>
                <a:cs typeface="Arial"/>
              </a:defRPr>
            </a:defPPr>
            <a:lvl1pPr>
              <a:defRPr sz="2250" b="1">
                <a:solidFill>
                  <a:srgbClr val="168880"/>
                </a:solidFill>
                <a:latin typeface="Arial"/>
                <a:ea typeface="Arial"/>
                <a:cs typeface="Arial"/>
              </a:defRPr>
            </a:lvl1pPr>
            <a:lvl2pPr>
              <a:defRPr sz="2250" b="1">
                <a:solidFill>
                  <a:srgbClr val="168880"/>
                </a:solidFill>
                <a:latin typeface="Arial"/>
                <a:ea typeface="Arial"/>
                <a:cs typeface="Arial"/>
              </a:defRPr>
            </a:lvl2pPr>
            <a:lvl3pPr>
              <a:defRPr sz="2250" b="1">
                <a:solidFill>
                  <a:srgbClr val="168880"/>
                </a:solidFill>
                <a:latin typeface="Arial"/>
                <a:ea typeface="Arial"/>
                <a:cs typeface="Arial"/>
              </a:defRPr>
            </a:lvl3pPr>
            <a:lvl4pPr>
              <a:defRPr sz="2250" b="1">
                <a:solidFill>
                  <a:srgbClr val="168880"/>
                </a:solidFill>
                <a:latin typeface="Arial"/>
                <a:ea typeface="Arial"/>
                <a:cs typeface="Arial"/>
              </a:defRPr>
            </a:lvl4pPr>
            <a:lvl5pPr>
              <a:defRPr sz="2250" b="1">
                <a:solidFill>
                  <a:srgbClr val="168880"/>
                </a:solidFill>
                <a:latin typeface="Arial"/>
                <a:ea typeface="Arial"/>
                <a:cs typeface="Arial"/>
              </a:defRPr>
            </a:lvl5pPr>
            <a:lvl6pPr>
              <a:defRPr sz="2250" b="1">
                <a:solidFill>
                  <a:srgbClr val="168880"/>
                </a:solidFill>
                <a:latin typeface="Arial"/>
                <a:ea typeface="Arial"/>
                <a:cs typeface="Arial"/>
              </a:defRPr>
            </a:lvl6pPr>
            <a:lvl7pPr>
              <a:defRPr sz="2250" b="1">
                <a:solidFill>
                  <a:srgbClr val="168880"/>
                </a:solidFill>
                <a:latin typeface="Arial"/>
                <a:ea typeface="Arial"/>
                <a:cs typeface="Arial"/>
              </a:defRPr>
            </a:lvl7pPr>
            <a:lvl8pPr>
              <a:defRPr sz="2250" b="1">
                <a:solidFill>
                  <a:srgbClr val="168880"/>
                </a:solidFill>
                <a:latin typeface="Arial"/>
                <a:ea typeface="Arial"/>
                <a:cs typeface="Arial"/>
              </a:defRPr>
            </a:lvl8pPr>
            <a:lvl9pPr>
              <a:defRPr sz="2250" b="1">
                <a:solidFill>
                  <a:srgbClr val="1688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6888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68880"/>
                </a:solidFill>
                <a:latin typeface="Arial"/>
                <a:ea typeface="Arial"/>
                <a:cs typeface="Arial"/>
              </a:rPr>
              <a:t>32 aciertos adicionales con el mismo volumen de alertas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E2C481-D8C7-4F19-B648-B8CBCC569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86375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43746"/>
                </a:solidFill>
                <a:latin typeface="Arial"/>
                <a:ea typeface="Arial"/>
                <a:cs typeface="Arial"/>
              </a:rPr>
              <a:t>Menor complejidad. Ventaja descriptiva y dependiente de capacidad.</a:t>
            </a:r>
          </a:p>
        </p:txBody>
      </p:sp>
    </p:spTree>
    <p:extLst>
      <p:ext uri="{BB962C8B-B14F-4D97-AF65-F5344CB8AC3E}">
        <p14:creationId xmlns:p14="http://schemas.microsoft.com/office/powerpoint/2010/main" val="72403804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504F16-5AA0-4243-9FBE-C3DEECE67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19100"/>
            <a:ext cx="10953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3E58"/>
                </a:solidFill>
                <a:latin typeface="Arial"/>
                <a:ea typeface="Arial"/>
                <a:cs typeface="Arial"/>
              </a:rPr>
              <a:t>Política mensual de priorización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5B0A5F-6CB7-4839-ADAF-8AE72EDC7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19850"/>
            <a:ext cx="95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27482"/>
                </a:solidFill>
                <a:latin typeface="Arial"/>
                <a:ea typeface="Arial"/>
                <a:cs typeface="Arial"/>
              </a:rPr>
              <a:t>11 / 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61FF6F-3F3B-4E7E-9EAD-B5641F1F2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419850"/>
            <a:ext cx="9906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27482"/>
                </a:solidFill>
                <a:latin typeface="Arial"/>
                <a:ea typeface="Arial"/>
                <a:cs typeface="Arial"/>
              </a:rPr>
              <a:t>Especificación congelada de fase 8 y src/decision_policy.py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A09ED8-566D-4B0B-A1FD-40C7206D9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168880"/>
                </a:solidFill>
                <a:latin typeface="Arial"/>
                <a:ea typeface="Arial"/>
                <a:cs typeface="Arial"/>
              </a:defRPr>
            </a:defPPr>
            <a:lvl1pPr>
              <a:defRPr sz="3225" b="1">
                <a:solidFill>
                  <a:srgbClr val="168880"/>
                </a:solidFill>
                <a:latin typeface="Arial"/>
                <a:ea typeface="Arial"/>
                <a:cs typeface="Arial"/>
              </a:defRPr>
            </a:lvl1pPr>
            <a:lvl2pPr>
              <a:defRPr sz="3225" b="1">
                <a:solidFill>
                  <a:srgbClr val="168880"/>
                </a:solidFill>
                <a:latin typeface="Arial"/>
                <a:ea typeface="Arial"/>
                <a:cs typeface="Arial"/>
              </a:defRPr>
            </a:lvl2pPr>
            <a:lvl3pPr>
              <a:defRPr sz="3225" b="1">
                <a:solidFill>
                  <a:srgbClr val="168880"/>
                </a:solidFill>
                <a:latin typeface="Arial"/>
                <a:ea typeface="Arial"/>
                <a:cs typeface="Arial"/>
              </a:defRPr>
            </a:lvl3pPr>
            <a:lvl4pPr>
              <a:defRPr sz="3225" b="1">
                <a:solidFill>
                  <a:srgbClr val="168880"/>
                </a:solidFill>
                <a:latin typeface="Arial"/>
                <a:ea typeface="Arial"/>
                <a:cs typeface="Arial"/>
              </a:defRPr>
            </a:lvl4pPr>
            <a:lvl5pPr>
              <a:defRPr sz="3225" b="1">
                <a:solidFill>
                  <a:srgbClr val="168880"/>
                </a:solidFill>
                <a:latin typeface="Arial"/>
                <a:ea typeface="Arial"/>
                <a:cs typeface="Arial"/>
              </a:defRPr>
            </a:lvl5pPr>
            <a:lvl6pPr>
              <a:defRPr sz="3225" b="1">
                <a:solidFill>
                  <a:srgbClr val="168880"/>
                </a:solidFill>
                <a:latin typeface="Arial"/>
                <a:ea typeface="Arial"/>
                <a:cs typeface="Arial"/>
              </a:defRPr>
            </a:lvl6pPr>
            <a:lvl7pPr>
              <a:defRPr sz="3225" b="1">
                <a:solidFill>
                  <a:srgbClr val="168880"/>
                </a:solidFill>
                <a:latin typeface="Arial"/>
                <a:ea typeface="Arial"/>
                <a:cs typeface="Arial"/>
              </a:defRPr>
            </a:lvl7pPr>
            <a:lvl8pPr>
              <a:defRPr sz="3225" b="1">
                <a:solidFill>
                  <a:srgbClr val="168880"/>
                </a:solidFill>
                <a:latin typeface="Arial"/>
                <a:ea typeface="Arial"/>
                <a:cs typeface="Arial"/>
              </a:defRPr>
            </a:lvl8pPr>
            <a:lvl9pPr>
              <a:defRPr sz="3225" b="1">
                <a:solidFill>
                  <a:srgbClr val="1688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68880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68880"/>
                </a:solidFill>
                <a:latin typeface="Arial"/>
                <a:ea typeface="Arial"/>
                <a:cs typeface="Arial"/>
              </a:rPr>
              <a:t>k = floor(0,20 × reservas del mes)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0BA0BB-6376-474C-B4BE-81EAB125B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57500"/>
            <a:ext cx="10763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43746"/>
                </a:solidFill>
                <a:latin typeface="Arial"/>
                <a:ea typeface="Arial"/>
                <a:cs typeface="Arial"/>
              </a:rPr>
              <a:t>Ambos hoteles comparten el cupo de cada mes.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CECD8F-E764-4158-9C34-6F198A509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0"/>
            <a:ext cx="10763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43746"/>
                </a:solidFill>
                <a:latin typeface="Arial"/>
                <a:ea typeface="Arial"/>
                <a:cs typeface="Arial"/>
              </a:rPr>
              <a:t>Score descendente y desempates SHA256 e ID.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3648C8-EA16-4BC2-A8E1-E6D7E309B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62500"/>
            <a:ext cx="10763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43746"/>
                </a:solidFill>
                <a:latin typeface="Arial"/>
                <a:ea typeface="Arial"/>
                <a:cs typeface="Arial"/>
              </a:rPr>
              <a:t>Capacidad hipotética y seguimiento humano.</a:t>
            </a:r>
          </a:p>
        </p:txBody>
      </p:sp>
    </p:spTree>
    <p:extLst>
      <p:ext uri="{BB962C8B-B14F-4D97-AF65-F5344CB8AC3E}">
        <p14:creationId xmlns:p14="http://schemas.microsoft.com/office/powerpoint/2010/main" val="27896591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8120FD-BFC2-4931-B00E-D819E24AB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19100"/>
            <a:ext cx="10953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3E58"/>
                </a:solidFill>
                <a:latin typeface="Arial"/>
                <a:ea typeface="Arial"/>
                <a:cs typeface="Arial"/>
              </a:rPr>
              <a:t>Evaluación final sobre prueba v3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A7CEDF-08E3-473E-BB1E-5F40FC6D0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19850"/>
            <a:ext cx="95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27482"/>
                </a:solidFill>
                <a:latin typeface="Arial"/>
                <a:ea typeface="Arial"/>
                <a:cs typeface="Arial"/>
              </a:rPr>
              <a:t>12 / 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9CDC6D-0620-4F1E-A27D-6E7A9972E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419850"/>
            <a:ext cx="9906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27482"/>
                </a:solidFill>
                <a:latin typeface="Arial"/>
                <a:ea typeface="Arial"/>
                <a:cs typeface="Arial"/>
              </a:rPr>
              <a:t>Fase 9, evaluacion_9_metricas.json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07A6C6-9649-40F3-87EA-8B221EA9802E}"/>
              </a:ext>
            </a:extLst>
          </p:cNvPr>
          <p:cNvGraphicFramePr/>
          <p:nvPr/>
        </p:nvGraphicFramePr>
        <p:xfrm>
          <a:off xmlns:a="http://schemas.openxmlformats.org/drawingml/2006/main" x="666750" y="1428750"/>
          <a:ext xmlns:a="http://schemas.openxmlformats.org/drawingml/2006/main" cx="10858500" cy="3714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19500"/>
                <a:gridCol w="3619500"/>
                <a:gridCol w="3619500"/>
              </a:tblGrid>
              <a:tr h="6191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73E58"/>
                          </a:solidFill>
                          <a:latin typeface="Arial"/>
                          <a:ea typeface="Arial"/>
                          <a:cs typeface="Arial"/>
                        </a:rPr>
                        <a:t>Métrica</a:t>
                      </a:r>
                    </a:p>
                  </a:txBody>
                  <a:tcPr marL="114300" marR="114300" marT="114300" marB="114300">
                    <a:lnL w="4763">
                      <a:solidFill>
                        <a:srgbClr val="D7DFE3"/>
                      </a:solidFill>
                      <a:prstDash val="solid"/>
                    </a:lnL>
                    <a:lnR w="4763">
                      <a:solidFill>
                        <a:srgbClr val="D7DFE3"/>
                      </a:solidFill>
                      <a:prstDash val="solid"/>
                    </a:lnR>
                    <a:lnT w="4763">
                      <a:solidFill>
                        <a:srgbClr val="D7DFE3"/>
                      </a:solidFill>
                      <a:prstDash val="solid"/>
                    </a:lnT>
                    <a:lnB w="4763">
                      <a:solidFill>
                        <a:srgbClr val="D7DFE3"/>
                      </a:solidFill>
                      <a:prstDash val="solid"/>
                    </a:lnB>
                    <a:solidFill>
                      <a:srgbClr val="E4EF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73E58"/>
                          </a:solidFill>
                          <a:latin typeface="Arial"/>
                          <a:ea typeface="Arial"/>
                          <a:cs typeface="Arial"/>
                        </a:rPr>
                        <a:t>Validación</a:t>
                      </a:r>
                    </a:p>
                  </a:txBody>
                  <a:tcPr marL="114300" marR="114300" marT="114300" marB="114300">
                    <a:lnR w="4763">
                      <a:solidFill>
                        <a:srgbClr val="D7DFE3"/>
                      </a:solidFill>
                      <a:prstDash val="solid"/>
                    </a:lnR>
                    <a:lnT w="4763">
                      <a:solidFill>
                        <a:srgbClr val="D7DFE3"/>
                      </a:solidFill>
                      <a:prstDash val="solid"/>
                    </a:lnT>
                    <a:lnB w="4763">
                      <a:solidFill>
                        <a:srgbClr val="D7DFE3"/>
                      </a:solidFill>
                      <a:prstDash val="solid"/>
                    </a:lnB>
                    <a:solidFill>
                      <a:srgbClr val="E4EF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73E58"/>
                          </a:solidFill>
                          <a:latin typeface="Arial"/>
                          <a:ea typeface="Arial"/>
                          <a:cs typeface="Arial"/>
                        </a:rPr>
                        <a:t>Prueba</a:t>
                      </a:r>
                    </a:p>
                  </a:txBody>
                  <a:tcPr marL="114300" marR="114300" marT="114300" marB="114300">
                    <a:lnR w="4763">
                      <a:solidFill>
                        <a:srgbClr val="D7DFE3"/>
                      </a:solidFill>
                      <a:prstDash val="solid"/>
                    </a:lnR>
                    <a:lnT w="4763">
                      <a:solidFill>
                        <a:srgbClr val="D7DFE3"/>
                      </a:solidFill>
                      <a:prstDash val="solid"/>
                    </a:lnT>
                    <a:lnB w="4763">
                      <a:solidFill>
                        <a:srgbClr val="D7DFE3"/>
                      </a:solidFill>
                      <a:prstDash val="solid"/>
                    </a:lnB>
                    <a:solidFill>
                      <a:srgbClr val="E4EFF2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Precision política</a:t>
                      </a:r>
                    </a:p>
                  </a:txBody>
                  <a:tcPr marL="114300" marR="114300" marT="114300" marB="114300">
                    <a:lnL w="4763">
                      <a:solidFill>
                        <a:srgbClr val="D7DFE3"/>
                      </a:solidFill>
                      <a:prstDash val="solid"/>
                    </a:lnL>
                    <a:lnR w="4763">
                      <a:solidFill>
                        <a:srgbClr val="D7DFE3"/>
                      </a:solidFill>
                      <a:prstDash val="solid"/>
                    </a:lnR>
                    <a:lnB w="4763">
                      <a:solidFill>
                        <a:srgbClr val="D7DF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85,60%</a:t>
                      </a:r>
                    </a:p>
                  </a:txBody>
                  <a:tcPr marL="114300" marR="114300" marT="114300" marB="114300">
                    <a:lnR w="4763">
                      <a:solidFill>
                        <a:srgbClr val="D7DFE3"/>
                      </a:solidFill>
                      <a:prstDash val="solid"/>
                    </a:lnR>
                    <a:lnB w="4763">
                      <a:solidFill>
                        <a:srgbClr val="D7DF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81,35%</a:t>
                      </a:r>
                    </a:p>
                  </a:txBody>
                  <a:tcPr marL="114300" marR="114300" marT="114300" marB="114300">
                    <a:lnR w="4763">
                      <a:solidFill>
                        <a:srgbClr val="D7DFE3"/>
                      </a:solidFill>
                      <a:prstDash val="solid"/>
                    </a:lnR>
                    <a:lnB w="4763">
                      <a:solidFill>
                        <a:srgbClr val="D7DF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Recall política</a:t>
                      </a:r>
                    </a:p>
                  </a:txBody>
                  <a:tcPr marL="114300" marR="114300" marT="114300" marB="114300">
                    <a:lnL w="4763">
                      <a:solidFill>
                        <a:srgbClr val="D7DFE3"/>
                      </a:solidFill>
                      <a:prstDash val="solid"/>
                    </a:lnL>
                    <a:lnR w="4763">
                      <a:solidFill>
                        <a:srgbClr val="D7DFE3"/>
                      </a:solidFill>
                      <a:prstDash val="solid"/>
                    </a:lnR>
                    <a:lnB w="4763">
                      <a:solidFill>
                        <a:srgbClr val="D7DF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45,01%</a:t>
                      </a:r>
                    </a:p>
                  </a:txBody>
                  <a:tcPr marL="114300" marR="114300" marT="114300" marB="114300">
                    <a:lnR w="4763">
                      <a:solidFill>
                        <a:srgbClr val="D7DFE3"/>
                      </a:solidFill>
                      <a:prstDash val="solid"/>
                    </a:lnR>
                    <a:lnB w="4763">
                      <a:solidFill>
                        <a:srgbClr val="D7DF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40,65%</a:t>
                      </a:r>
                    </a:p>
                  </a:txBody>
                  <a:tcPr marL="114300" marR="114300" marT="114300" marB="114300">
                    <a:lnR w="4763">
                      <a:solidFill>
                        <a:srgbClr val="D7DFE3"/>
                      </a:solidFill>
                      <a:prstDash val="solid"/>
                    </a:lnR>
                    <a:lnB w="4763">
                      <a:solidFill>
                        <a:srgbClr val="D7DF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F1 política</a:t>
                      </a:r>
                    </a:p>
                  </a:txBody>
                  <a:tcPr marL="114300" marR="114300" marT="114300" marB="114300">
                    <a:lnL w="4763">
                      <a:solidFill>
                        <a:srgbClr val="D7DFE3"/>
                      </a:solidFill>
                      <a:prstDash val="solid"/>
                    </a:lnL>
                    <a:lnR w="4763">
                      <a:solidFill>
                        <a:srgbClr val="D7DFE3"/>
                      </a:solidFill>
                      <a:prstDash val="solid"/>
                    </a:lnR>
                    <a:lnB w="4763">
                      <a:solidFill>
                        <a:srgbClr val="D7DF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0,5900</a:t>
                      </a:r>
                    </a:p>
                  </a:txBody>
                  <a:tcPr marL="114300" marR="114300" marT="114300" marB="114300">
                    <a:lnR w="4763">
                      <a:solidFill>
                        <a:srgbClr val="D7DFE3"/>
                      </a:solidFill>
                      <a:prstDash val="solid"/>
                    </a:lnR>
                    <a:lnB w="4763">
                      <a:solidFill>
                        <a:srgbClr val="D7DF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0,5421</a:t>
                      </a:r>
                    </a:p>
                  </a:txBody>
                  <a:tcPr marL="114300" marR="114300" marT="114300" marB="114300">
                    <a:lnR w="4763">
                      <a:solidFill>
                        <a:srgbClr val="D7DFE3"/>
                      </a:solidFill>
                      <a:prstDash val="solid"/>
                    </a:lnR>
                    <a:lnB w="4763">
                      <a:solidFill>
                        <a:srgbClr val="D7DF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ROC-AUC / AP</a:t>
                      </a:r>
                    </a:p>
                  </a:txBody>
                  <a:tcPr marL="114300" marR="114300" marT="114300" marB="114300">
                    <a:lnL w="4763">
                      <a:solidFill>
                        <a:srgbClr val="D7DFE3"/>
                      </a:solidFill>
                      <a:prstDash val="solid"/>
                    </a:lnL>
                    <a:lnR w="4763">
                      <a:solidFill>
                        <a:srgbClr val="D7DFE3"/>
                      </a:solidFill>
                      <a:prstDash val="solid"/>
                    </a:lnR>
                    <a:lnB w="4763">
                      <a:solidFill>
                        <a:srgbClr val="D7DF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0,7946 / 0,7622</a:t>
                      </a:r>
                    </a:p>
                  </a:txBody>
                  <a:tcPr marL="114300" marR="114300" marT="114300" marB="114300">
                    <a:lnR w="4763">
                      <a:solidFill>
                        <a:srgbClr val="D7DFE3"/>
                      </a:solidFill>
                      <a:prstDash val="solid"/>
                    </a:lnR>
                    <a:lnB w="4763">
                      <a:solidFill>
                        <a:srgbClr val="D7DF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0,7802 / 0,7416</a:t>
                      </a:r>
                    </a:p>
                  </a:txBody>
                  <a:tcPr marL="114300" marR="114300" marT="114300" marB="114300">
                    <a:lnR w="4763">
                      <a:solidFill>
                        <a:srgbClr val="D7DFE3"/>
                      </a:solidFill>
                      <a:prstDash val="solid"/>
                    </a:lnR>
                    <a:lnB w="4763">
                      <a:solidFill>
                        <a:srgbClr val="D7DF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Brier</a:t>
                      </a:r>
                    </a:p>
                  </a:txBody>
                  <a:tcPr marL="114300" marR="114300" marT="114300" marB="114300">
                    <a:lnL w="4763">
                      <a:solidFill>
                        <a:srgbClr val="D7DFE3"/>
                      </a:solidFill>
                      <a:prstDash val="solid"/>
                    </a:lnL>
                    <a:lnR w="4763">
                      <a:solidFill>
                        <a:srgbClr val="D7DFE3"/>
                      </a:solidFill>
                      <a:prstDash val="solid"/>
                    </a:lnR>
                    <a:lnB w="4763">
                      <a:solidFill>
                        <a:srgbClr val="D7DF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0,17238</a:t>
                      </a:r>
                    </a:p>
                  </a:txBody>
                  <a:tcPr marL="114300" marR="114300" marT="114300" marB="114300">
                    <a:lnR w="4763">
                      <a:solidFill>
                        <a:srgbClr val="D7DFE3"/>
                      </a:solidFill>
                      <a:prstDash val="solid"/>
                    </a:lnR>
                    <a:lnB w="4763">
                      <a:solidFill>
                        <a:srgbClr val="D7DF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0,18534</a:t>
                      </a:r>
                    </a:p>
                  </a:txBody>
                  <a:tcPr marL="114300" marR="114300" marT="114300" marB="114300">
                    <a:lnR w="4763">
                      <a:solidFill>
                        <a:srgbClr val="D7DFE3"/>
                      </a:solidFill>
                      <a:prstDash val="solid"/>
                    </a:lnR>
                    <a:lnB w="4763">
                      <a:solidFill>
                        <a:srgbClr val="D7DF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4B1093-185B-4980-9D1D-81AE8CF46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19750"/>
            <a:ext cx="10858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68880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168880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168880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168880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168880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168880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168880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168880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168880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1688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6888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68880"/>
                </a:solidFill>
                <a:latin typeface="Arial"/>
                <a:ea typeface="Arial"/>
                <a:cs typeface="Arial"/>
              </a:rPr>
              <a:t>6.564 prioridades: 5.340 aciertos y 1.224 falsas alertas</a:t>
            </a:r>
          </a:p>
        </p:txBody>
      </p:sp>
    </p:spTree>
    <p:extLst>
      <p:ext uri="{BB962C8B-B14F-4D97-AF65-F5344CB8AC3E}">
        <p14:creationId xmlns:p14="http://schemas.microsoft.com/office/powerpoint/2010/main" val="27696827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B9BC96-0C45-466F-98CF-C0BDC2744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19100"/>
            <a:ext cx="10953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3E58"/>
                </a:solidFill>
                <a:latin typeface="Arial"/>
                <a:ea typeface="Arial"/>
                <a:cs typeface="Arial"/>
              </a:rPr>
              <a:t>Variabilidad por mes y hotel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E9FB5E-C06E-43B5-9FCC-9FC17D4B3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19850"/>
            <a:ext cx="95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27482"/>
                </a:solidFill>
                <a:latin typeface="Arial"/>
                <a:ea typeface="Arial"/>
                <a:cs typeface="Arial"/>
              </a:rPr>
              <a:t>13 / 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914B96-B9CD-4323-8485-9ABBF1ED8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419850"/>
            <a:ext cx="9906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27482"/>
                </a:solidFill>
                <a:latin typeface="Arial"/>
                <a:ea typeface="Arial"/>
                <a:cs typeface="Arial"/>
              </a:rPr>
              <a:t>Fase 9, tablas mensuales y por hotel</a:t>
            </a:r>
          </a:p>
        </p:txBody>
      </p:sp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B9DE99A5-FCD4-4714-A1A4-B7DA065F9B60}"/>
              </a:ext>
            </a:extLst>
          </p:cNvPr>
          <p:cNvGraphicFramePr/>
          <p:nvPr/>
        </p:nvGraphicFramePr>
        <p:xfrm>
          <a:off xmlns:a="http://schemas.openxmlformats.org/drawingml/2006/main" x="666750" y="1476375"/>
          <a:ext xmlns:a="http://schemas.openxmlformats.org/drawingml/2006/main" cx="7143750" cy="4095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b89451c92944680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7234E3-BAAC-4108-806D-4A93923A5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1809750"/>
            <a:ext cx="3333750" cy="3524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defPPr>
            <a:lvl1pPr>
              <a:defRPr sz="195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1pPr>
            <a:lvl2pPr>
              <a:defRPr sz="195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2pPr>
            <a:lvl3pPr>
              <a:defRPr sz="195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3pPr>
            <a:lvl4pPr>
              <a:defRPr sz="195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4pPr>
            <a:lvl5pPr>
              <a:defRPr sz="195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5pPr>
            <a:lvl6pPr>
              <a:defRPr sz="195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6pPr>
            <a:lvl7pPr>
              <a:defRPr sz="195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7pPr>
            <a:lvl8pPr>
              <a:defRPr sz="195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8pPr>
            <a:lvl9pPr>
              <a:defRPr sz="195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43746"/>
                </a:solidFill>
                <a:latin typeface="Arial"/>
                <a:ea typeface="Arial"/>
                <a:cs typeface="Arial"/>
              </a:rPr>
              <a:t>City Hotel</a:t>
            </a:r>
          </a:p>
          <a:p xmlns:a="http://schemas.openxmlformats.org/drawingml/2006/main">
            <a:pPr>
              <a:defRPr sz="195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43746"/>
                </a:solidFill>
                <a:latin typeface="Arial"/>
                <a:ea typeface="Arial"/>
                <a:cs typeface="Arial"/>
              </a:rPr>
              <a:t>23,73% priorizado</a:t>
            </a:r>
          </a:p>
          <a:p xmlns:a="http://schemas.openxmlformats.org/drawingml/2006/main">
            <a:pPr>
              <a:defRPr sz="195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43746"/>
                </a:solidFill>
                <a:latin typeface="Arial"/>
                <a:ea typeface="Arial"/>
                <a:cs typeface="Arial"/>
              </a:rPr>
              <a:t>Recall 45,88%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43746"/>
                </a:solidFill>
                <a:latin typeface="Arial"/>
                <a:ea typeface="Arial"/>
                <a:cs typeface="Arial"/>
              </a:rPr>
              <a:t>Resort Hotel</a:t>
            </a:r>
          </a:p>
          <a:p xmlns:a="http://schemas.openxmlformats.org/drawingml/2006/main">
            <a:pPr>
              <a:defRPr sz="195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43746"/>
                </a:solidFill>
                <a:latin typeface="Arial"/>
                <a:ea typeface="Arial"/>
                <a:cs typeface="Arial"/>
              </a:rPr>
              <a:t>11,81% priorizado</a:t>
            </a:r>
          </a:p>
          <a:p xmlns:a="http://schemas.openxmlformats.org/drawingml/2006/main">
            <a:pPr>
              <a:defRPr sz="195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43746"/>
                </a:solidFill>
                <a:latin typeface="Arial"/>
                <a:ea typeface="Arial"/>
                <a:cs typeface="Arial"/>
              </a:rPr>
              <a:t>Recall 26,04%</a:t>
            </a:r>
          </a:p>
        </p:txBody>
      </p:sp>
    </p:spTree>
    <p:extLst>
      <p:ext uri="{BB962C8B-B14F-4D97-AF65-F5344CB8AC3E}">
        <p14:creationId xmlns:p14="http://schemas.microsoft.com/office/powerpoint/2010/main" val="60602221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13CC14-D1F6-4C1C-8CAC-D4ECB32F3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19100"/>
            <a:ext cx="10953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3E58"/>
                </a:solidFill>
                <a:latin typeface="Arial"/>
                <a:ea typeface="Arial"/>
                <a:cs typeface="Arial"/>
              </a:rPr>
              <a:t>Limitaciones de la evaluación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E8C1F8-6483-4F5E-AD5F-702D77C16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19850"/>
            <a:ext cx="95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27482"/>
                </a:solidFill>
                <a:latin typeface="Arial"/>
                <a:ea typeface="Arial"/>
                <a:cs typeface="Arial"/>
              </a:rPr>
              <a:t>14 / 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51B414-A1F0-4AA8-9B81-B3C7B089A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419850"/>
            <a:ext cx="9906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27482"/>
                </a:solidFill>
                <a:latin typeface="Arial"/>
                <a:ea typeface="Arial"/>
                <a:cs typeface="Arial"/>
              </a:rPr>
              <a:t>Memoria, limitaciones y fase 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236743-CB02-43DD-9EAA-3CD99BD6F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81125"/>
            <a:ext cx="10763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43746"/>
                </a:solidFill>
                <a:latin typeface="Arial"/>
                <a:ea typeface="Arial"/>
                <a:cs typeface="Arial"/>
              </a:rPr>
              <a:t>Diseño retrospectivo, snapshots y cierre operativo inciertos.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D3D78A-E02D-4A33-A6BC-7DBF808FA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33625"/>
            <a:ext cx="10763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43746"/>
                </a:solidFill>
                <a:latin typeface="Arial"/>
                <a:ea typeface="Arial"/>
                <a:cs typeface="Arial"/>
              </a:rPr>
              <a:t>Exposición previa parcial de prueba y validación reutilizada.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842E84-AEE9-49D1-9112-CBAF1E6F7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86125"/>
            <a:ext cx="10763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43746"/>
                </a:solidFill>
                <a:latin typeface="Arial"/>
                <a:ea typeface="Arial"/>
                <a:cs typeface="Arial"/>
              </a:rPr>
              <a:t>Scores sin calibración acreditada y variación mensual.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148EDE-81F0-41C3-A009-F4F2BB95B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38625"/>
            <a:ext cx="10763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43746"/>
                </a:solidFill>
                <a:latin typeface="Arial"/>
                <a:ea typeface="Arial"/>
                <a:cs typeface="Arial"/>
              </a:rPr>
              <a:t>Sin costes reales ni efecto del seguimiento evaluado.</a:t>
            </a:r>
          </a:p>
        </p:txBody>
      </p:sp>
    </p:spTree>
    <p:extLst>
      <p:ext uri="{BB962C8B-B14F-4D97-AF65-F5344CB8AC3E}">
        <p14:creationId xmlns:p14="http://schemas.microsoft.com/office/powerpoint/2010/main" val="52987246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88DF98-6189-4094-9208-3A9165758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19100"/>
            <a:ext cx="10953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73E5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3E58"/>
                </a:solidFill>
                <a:latin typeface="Arial"/>
                <a:ea typeface="Arial"/>
                <a:cs typeface="Arial"/>
              </a:rPr>
              <a:t>Conclusiones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DF4C40-7A9D-40CD-8498-B6C242B9A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19850"/>
            <a:ext cx="95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27482"/>
                </a:solidFill>
                <a:latin typeface="Arial"/>
                <a:ea typeface="Arial"/>
                <a:cs typeface="Arial"/>
              </a:rPr>
              <a:t>15 / 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7C0E12-A408-4306-838C-E7A033A0A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419850"/>
            <a:ext cx="9906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482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27482"/>
                </a:solidFill>
                <a:latin typeface="Arial"/>
                <a:ea typeface="Arial"/>
                <a:cs typeface="Arial"/>
              </a:rPr>
              <a:t>Memoria final y evaluación congelada de fase 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6E28DA-C968-4094-951B-B86919039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24000"/>
            <a:ext cx="10858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168880"/>
                </a:solidFill>
                <a:latin typeface="Arial"/>
                <a:ea typeface="Arial"/>
                <a:cs typeface="Arial"/>
              </a:defRPr>
            </a:defPPr>
            <a:lvl1pPr>
              <a:defRPr sz="3450" b="1">
                <a:solidFill>
                  <a:srgbClr val="168880"/>
                </a:solidFill>
                <a:latin typeface="Arial"/>
                <a:ea typeface="Arial"/>
                <a:cs typeface="Arial"/>
              </a:defRPr>
            </a:lvl1pPr>
            <a:lvl2pPr>
              <a:defRPr sz="3450" b="1">
                <a:solidFill>
                  <a:srgbClr val="168880"/>
                </a:solidFill>
                <a:latin typeface="Arial"/>
                <a:ea typeface="Arial"/>
                <a:cs typeface="Arial"/>
              </a:defRPr>
            </a:lvl2pPr>
            <a:lvl3pPr>
              <a:defRPr sz="3450" b="1">
                <a:solidFill>
                  <a:srgbClr val="168880"/>
                </a:solidFill>
                <a:latin typeface="Arial"/>
                <a:ea typeface="Arial"/>
                <a:cs typeface="Arial"/>
              </a:defRPr>
            </a:lvl3pPr>
            <a:lvl4pPr>
              <a:defRPr sz="3450" b="1">
                <a:solidFill>
                  <a:srgbClr val="168880"/>
                </a:solidFill>
                <a:latin typeface="Arial"/>
                <a:ea typeface="Arial"/>
                <a:cs typeface="Arial"/>
              </a:defRPr>
            </a:lvl4pPr>
            <a:lvl5pPr>
              <a:defRPr sz="3450" b="1">
                <a:solidFill>
                  <a:srgbClr val="168880"/>
                </a:solidFill>
                <a:latin typeface="Arial"/>
                <a:ea typeface="Arial"/>
                <a:cs typeface="Arial"/>
              </a:defRPr>
            </a:lvl5pPr>
            <a:lvl6pPr>
              <a:defRPr sz="3450" b="1">
                <a:solidFill>
                  <a:srgbClr val="168880"/>
                </a:solidFill>
                <a:latin typeface="Arial"/>
                <a:ea typeface="Arial"/>
                <a:cs typeface="Arial"/>
              </a:defRPr>
            </a:lvl6pPr>
            <a:lvl7pPr>
              <a:defRPr sz="3450" b="1">
                <a:solidFill>
                  <a:srgbClr val="168880"/>
                </a:solidFill>
                <a:latin typeface="Arial"/>
                <a:ea typeface="Arial"/>
                <a:cs typeface="Arial"/>
              </a:defRPr>
            </a:lvl7pPr>
            <a:lvl8pPr>
              <a:defRPr sz="3450" b="1">
                <a:solidFill>
                  <a:srgbClr val="168880"/>
                </a:solidFill>
                <a:latin typeface="Arial"/>
                <a:ea typeface="Arial"/>
                <a:cs typeface="Arial"/>
              </a:defRPr>
            </a:lvl8pPr>
            <a:lvl9pPr>
              <a:defRPr sz="3450" b="1">
                <a:solidFill>
                  <a:srgbClr val="1688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68880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68880"/>
                </a:solidFill>
                <a:latin typeface="Arial"/>
                <a:ea typeface="Arial"/>
                <a:cs typeface="Arial"/>
              </a:rPr>
              <a:t>5.340 cancelaciones identificadas</a:t>
            </a:r>
          </a:p>
          <a:p xmlns:a="http://schemas.openxmlformats.org/drawingml/2006/main">
            <a:pPr>
              <a:defRPr sz="3450" b="1">
                <a:solidFill>
                  <a:srgbClr val="168880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68880"/>
                </a:solidFill>
                <a:latin typeface="Arial"/>
                <a:ea typeface="Arial"/>
                <a:cs typeface="Arial"/>
              </a:rPr>
              <a:t>en 6.564 prioridades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69BDB0-5A89-4C7E-B2F8-0748387B9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33750"/>
            <a:ext cx="10858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43746"/>
                </a:solidFill>
                <a:latin typeface="Arial"/>
                <a:ea typeface="Arial"/>
                <a:cs typeface="Arial"/>
              </a:rPr>
              <a:t>Cobertura del 40,65%, con diferencias entre meses y hoteles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5A2D8B-5D99-4982-BCD7-AD98D3418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19625"/>
            <a:ext cx="10858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43746"/>
                </a:solidFill>
                <a:latin typeface="Arial"/>
                <a:ea typeface="Arial"/>
                <a:cs typeface="Arial"/>
              </a:rPr>
              <a:t>Nuevos datos trazables y un piloto independiente permitirían</a:t>
            </a:r>
          </a:p>
          <a:p xmlns:a="http://schemas.openxmlformats.org/drawingml/2006/main">
            <a:pPr>
              <a:defRPr sz="210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43746"/>
                </a:solidFill>
                <a:latin typeface="Arial"/>
                <a:ea typeface="Arial"/>
                <a:cs typeface="Arial"/>
              </a:rPr>
              <a:t>evaluar viabilidad operativa y consecuencias del seguimiento.</a:t>
            </a:r>
          </a:p>
        </p:txBody>
      </p:sp>
    </p:spTree>
    <p:extLst>
      <p:ext uri="{BB962C8B-B14F-4D97-AF65-F5344CB8AC3E}">
        <p14:creationId xmlns:p14="http://schemas.microsoft.com/office/powerpoint/2010/main" val="187413776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2026-10-18T16:28:21.3690000Z</dcterms:created>
  <dcterms:modified xsi:type="dcterms:W3CDTF">2026-10-18T16:28:21.3690000Z</dcterms:modified>
</coreProperties>
</file>